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41148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_mg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475488"/>
            <a:ext cx="2468880" cy="6492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8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Calibri"/>
              </a:defRPr>
            </a:pPr>
            <a:r>
              <a:t>BACHELOR OF TECHNOLOGY | MINI PROJECT PRESENTATION &amp; VIVA VOCE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Calibri"/>
              </a:defRPr>
            </a:pPr>
            <a:r>
              <a:t>AiSOC: Autonomous AI-Powered Security Operations Center</a:t>
            </a:r>
          </a:p>
          <a:p>
            <a:pPr>
              <a:spcBef>
                <a:spcPts val="600"/>
              </a:spcBef>
              <a:defRPr sz="1350">
                <a:solidFill>
                  <a:srgbClr val="38BDF8"/>
                </a:solidFill>
                <a:latin typeface="Calibri"/>
              </a:defRPr>
            </a:pPr>
            <a:r>
              <a:t>Multi-Agent Security Orchestration, OCSF Telemetry Normalization, Dual-Stage ML Triage, and Graph-Driven Incident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212080" cy="3383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992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PROJECT 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29000"/>
            <a:ext cx="4800600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Yashvinthan M: </a:t>
            </a:r>
            <a:r>
              <a:rPr b="0">
                <a:solidFill>
                  <a:srgbClr val="F8FAFC"/>
                </a:solidFill>
              </a:rPr>
              <a:t>231061101162  (Lead AI &amp; Backend Architecture)</a:t>
            </a:r>
          </a:p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Tharun Kumar D: </a:t>
            </a:r>
            <a:r>
              <a:rPr b="0">
                <a:solidFill>
                  <a:srgbClr val="F8FAFC"/>
                </a:solidFill>
              </a:rPr>
              <a:t>231061101150  (ML Triage &amp; Detection Engineering)</a:t>
            </a:r>
          </a:p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Sanjeev V: </a:t>
            </a:r>
            <a:r>
              <a:rPr b="0">
                <a:solidFill>
                  <a:srgbClr val="F8FAFC"/>
                </a:solidFill>
              </a:rPr>
              <a:t>231061101140  (OCSF Ingestion &amp; Cloud Connectors)</a:t>
            </a:r>
          </a:p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Srinithi J S: </a:t>
            </a:r>
            <a:r>
              <a:rPr b="0">
                <a:solidFill>
                  <a:srgbClr val="F8FAFC"/>
                </a:solidFill>
              </a:rPr>
              <a:t>231061101149  (Analyst Workbench &amp; Playbook Studio)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212080" cy="3383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9992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DEPARTMENT &amp; ACADEMIC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429000"/>
            <a:ext cx="4800600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Department: </a:t>
            </a:r>
            <a:r>
              <a:rPr b="0">
                <a:solidFill>
                  <a:srgbClr val="F8FAFC"/>
                </a:solidFill>
              </a:rPr>
              <a:t>Department of Computer Science and Engineering</a:t>
            </a:r>
          </a:p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Institution: </a:t>
            </a:r>
            <a:r>
              <a:rPr b="0">
                <a:solidFill>
                  <a:srgbClr val="F8FAFC"/>
                </a:solidFill>
              </a:rPr>
              <a:t>Faculty of Engineering &amp; Technology</a:t>
            </a:r>
          </a:p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Academic Year: </a:t>
            </a:r>
            <a:r>
              <a:rPr b="0">
                <a:solidFill>
                  <a:srgbClr val="F8FAFC"/>
                </a:solidFill>
              </a:rPr>
              <a:t>2025-2026 (July 2026 Examination)</a:t>
            </a:r>
          </a:p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Project Domain: </a:t>
            </a:r>
            <a:r>
              <a:rPr b="0">
                <a:solidFill>
                  <a:srgbClr val="F8FAFC"/>
                </a:solidFill>
              </a:rPr>
              <a:t>Autonomous AI, Cybersecurity &amp; Multi-Agent Systems</a:t>
            </a:r>
          </a:p>
          <a:p>
            <a:pPr>
              <a:spcAft>
                <a:spcPts val="45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Verification Testbed: </a:t>
            </a:r>
            <a:r>
              <a:rPr b="0">
                <a:solidFill>
                  <a:srgbClr val="F8FAFC"/>
                </a:solidFill>
              </a:rPr>
              <a:t>Enterprise Cisco Catalyst 3850 &amp; Proxmox VE Cluster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2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Abstract: Autonomous Security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High-level overview of methodology, architectural breakthroughs, and empirical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ADE80"/>
                </a:solidFill>
                <a:latin typeface="Calibri"/>
              </a:defRPr>
            </a:pPr>
            <a:r>
              <a:t>89.4% Noise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  <a:latin typeface="Calibri"/>
              </a:defRPr>
            </a:pPr>
            <a:r>
              <a:t>3.8m MTTR (1,600x Faster)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16+ OCSF Connectors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100% Safe Gated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10698480" cy="44348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39111"/>
            <a:ext cx="102961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Project Abstract &amp;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23160"/>
            <a:ext cx="102870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Context &amp; Motivation: </a:t>
            </a:r>
            <a:r>
              <a:rPr b="0">
                <a:solidFill>
                  <a:srgbClr val="F8FAFC"/>
                </a:solidFill>
              </a:rPr>
              <a:t>Enterprise Security Operations Centers (SOCs) face an existential scalability crisis, ingesting tens of millions of daily security logs while grappling with 83% false-positive noise and a severe global workforce shortage exceeding 4.0 million professionals.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Proposed Innovation: </a:t>
            </a:r>
            <a:r>
              <a:rPr b="0">
                <a:solidFill>
                  <a:srgbClr val="F8FAFC"/>
                </a:solidFill>
              </a:rPr>
              <a:t>This project designs, implements, and evaluates AiSOC, an open-source, full-lifecycle autonomous platform that replaces fragmented manual tier-1/tier-2 triage with a collaborative four-agent funnel (DetectAgent, TriageAgent, HuntAgent, RespondAgent).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Standardization &amp; ML: </a:t>
            </a:r>
            <a:r>
              <a:rPr b="0">
                <a:solidFill>
                  <a:srgbClr val="F8FAFC"/>
                </a:solidFill>
              </a:rPr>
              <a:t>Raw telemetry across 16+ vendor sources is normalized in real-time into the Open Cybersecurity Schema Framework (OCSF) and processed via an in-memory Bloom filter and dual-stage machine learning engine (Isolation Forest anomaly filtering + LambdaRank priority ranking).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Graph Correlation &amp; Safety: </a:t>
            </a:r>
            <a:r>
              <a:rPr b="0">
                <a:solidFill>
                  <a:srgbClr val="F8FAFC"/>
                </a:solidFill>
              </a:rPr>
              <a:t>Attacks are correlated in real-time within a streaming Neo4j knowledge graph (17 node types, 14 edge relationships) and mitigated via parameterised SOAR playbooks governed by a strict Blast-Radius L0-L4 safety gating model.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Empirical Results: </a:t>
            </a:r>
            <a:r>
              <a:rPr b="0">
                <a:solidFill>
                  <a:srgbClr val="F8FAFC"/>
                </a:solidFill>
              </a:rPr>
              <a:t>Benchmarked across 200 enterprise incidents and 50,000 telemetry events, AiSOC achieves 89.4% noise reduction, reduces MTTR from 103 hours to 3.8 minutes (1,600x acceleration), maintains 96.4% MITRE ATT&amp;CK accuracy, and ensures 100% zero-outage safety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3 |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Problem Statement: Key Structural Failures in Modern SOCs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Analyzing critical bottlenecks across data volume, cognitive saturation, and remediation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1. Alert Fatigue &amp; Noise Explosion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Overwhelming Volume: </a:t>
            </a:r>
            <a:r>
              <a:rPr b="0">
                <a:solidFill>
                  <a:srgbClr val="F8FAFC"/>
                </a:solidFill>
              </a:rPr>
              <a:t>Tier-1 analysts receive 500+ alerts daily; 83% are benign noise or misconfigurations.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High Miss Rate: </a:t>
            </a:r>
            <a:r>
              <a:rPr b="0">
                <a:solidFill>
                  <a:srgbClr val="F8FAFC"/>
                </a:solidFill>
              </a:rPr>
              <a:t>Up to 62% of security alerts are closed without thorough investigation due to burnout.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Analyst Desensitization: </a:t>
            </a:r>
            <a:r>
              <a:rPr b="0">
                <a:solidFill>
                  <a:srgbClr val="F8FAFC"/>
                </a:solidFill>
              </a:rPr>
              <a:t>Repetitive IOC lookups lead to cognitive exhaustion and catastrophic security blindspots.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2. Context Fragmentation &amp; Data 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Incompatible Schemas: </a:t>
            </a:r>
            <a:r>
              <a:rPr b="0">
                <a:solidFill>
                  <a:srgbClr val="F8FAFC"/>
                </a:solidFill>
              </a:rPr>
              <a:t>Disparate log formats across AWS GuardDuty, CrowdStrike, Okta, and Zeek network logs.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Missing Graph Context: </a:t>
            </a:r>
            <a:r>
              <a:rPr b="0">
                <a:solidFill>
                  <a:srgbClr val="F8FAFC"/>
                </a:solidFill>
              </a:rPr>
              <a:t>Relational SIEM logs fail to connect multi-hop lateral movement across hosts and cloud roles.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Manual Enrichment Delay: </a:t>
            </a:r>
            <a:r>
              <a:rPr b="0">
                <a:solidFill>
                  <a:srgbClr val="F8FAFC"/>
                </a:solidFill>
              </a:rPr>
              <a:t>Querying external threat intelligence feeds takes 5-15 minutes per single alert.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3. Escalation Latency &amp; High MTTR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Idle Handoff Latency: </a:t>
            </a:r>
            <a:r>
              <a:rPr b="0">
                <a:solidFill>
                  <a:srgbClr val="F8FAFC"/>
                </a:solidFill>
              </a:rPr>
              <a:t>Tier-1 to Tier-3 escalation queues introduce 4 to 24 hours of investigation delay.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Critical Dwell Time: </a:t>
            </a:r>
            <a:r>
              <a:rPr b="0">
                <a:solidFill>
                  <a:srgbClr val="F8FAFC"/>
                </a:solidFill>
              </a:rPr>
              <a:t>Average industry dwell time exceeds 4.3 days (103 hours), enabling massive data exfiltration.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Unrepeatable Playbooks: </a:t>
            </a:r>
            <a:r>
              <a:rPr b="0">
                <a:solidFill>
                  <a:srgbClr val="F8FAFC"/>
                </a:solidFill>
              </a:rPr>
              <a:t>Human manual execution varies wildly across shifts and analyst experience levels.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4. Remediation Hazards &amp; Vendor Lock-In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Blast-Radius Risks: </a:t>
            </a:r>
            <a:r>
              <a:rPr b="0">
                <a:solidFill>
                  <a:srgbClr val="F8FAFC"/>
                </a:solidFill>
              </a:rPr>
              <a:t>Manual host isolation risks knocking down business-critical production domain controllers.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Exorbitant Ingest Costs: </a:t>
            </a:r>
            <a:r>
              <a:rPr b="0">
                <a:solidFill>
                  <a:srgbClr val="F8FAFC"/>
                </a:solidFill>
              </a:rPr>
              <a:t>Commercial SIEMs charge thousands per GB/day, forcing enterprises to discard logs.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Air-Gap Incompatibility: </a:t>
            </a:r>
            <a:r>
              <a:rPr b="0">
                <a:solidFill>
                  <a:srgbClr val="F8FAFC"/>
                </a:solidFill>
              </a:rPr>
              <a:t>SaaS-only commercial AI tools cannot operate in sovereign, defense, or banking enclaves.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4 |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Primary Objectives of the AiSOC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Concrete, measurable engineering and research goals established for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Objective 1: Universal OCSF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Standardized Normalization: </a:t>
            </a:r>
            <a:r>
              <a:rPr b="0">
                <a:solidFill>
                  <a:srgbClr val="F8FAFC"/>
                </a:solidFill>
              </a:rPr>
              <a:t>Develop 16+ first-party data connectors mapping vendor telemetry into OCSF schema.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High-Throughput Streaming: </a:t>
            </a:r>
            <a:r>
              <a:rPr b="0">
                <a:solidFill>
                  <a:srgbClr val="F8FAFC"/>
                </a:solidFill>
              </a:rPr>
              <a:t>Build a Kafka streaming ingest pipeline handling 10,000+ events/sec with zero loss.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Encrypted Vault: </a:t>
            </a:r>
            <a:r>
              <a:rPr b="0">
                <a:solidFill>
                  <a:srgbClr val="F8FAFC"/>
                </a:solidFill>
              </a:rPr>
              <a:t>Implement Fernet AES-128-CBC + HMAC-SHA256 application-level credential encryption.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Objective 2: Dual-Stage ML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85%+ Noise Suppression: </a:t>
            </a:r>
            <a:r>
              <a:rPr b="0">
                <a:solidFill>
                  <a:srgbClr val="F8FAFC"/>
                </a:solidFill>
              </a:rPr>
              <a:t>Deploy Stage-1 Isolation Forest to filter out routine background administrative anomalies.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Priority Ranking: </a:t>
            </a:r>
            <a:r>
              <a:rPr b="0">
                <a:solidFill>
                  <a:srgbClr val="F8FAFC"/>
                </a:solidFill>
              </a:rPr>
              <a:t>Implement Stage-2 LambdaRank Learning-to-Rank to compute 0-100 incident urgency scores.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O(1) Threat Intel: </a:t>
            </a:r>
            <a:r>
              <a:rPr b="0">
                <a:solidFill>
                  <a:srgbClr val="F8FAFC"/>
                </a:solidFill>
              </a:rPr>
              <a:t>Integrate in-memory Bloom filter for constant-time sub-millisecond IOC lookup.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Objective 3: Real-Time Graph Threat Hunting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Streaming Neo4j Ingest: </a:t>
            </a:r>
            <a:r>
              <a:rPr b="0">
                <a:solidFill>
                  <a:srgbClr val="F8FAFC"/>
                </a:solidFill>
              </a:rPr>
              <a:t>Construct an entity graph with 17 node labels and 14 edge types in real-time.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Multi-Hop Attack Pathing: </a:t>
            </a:r>
            <a:r>
              <a:rPr b="0">
                <a:solidFill>
                  <a:srgbClr val="F8FAFC"/>
                </a:solidFill>
              </a:rPr>
              <a:t>Automatically reconstruct lateral movement traces from initial ingress to domain escalation.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Natural Language /hunt: </a:t>
            </a:r>
            <a:r>
              <a:rPr b="0">
                <a:solidFill>
                  <a:srgbClr val="F8FAFC"/>
                </a:solidFill>
              </a:rPr>
              <a:t>Translate analyst plain English hunting queries into validated KQL/Cypher templates.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Objective 4: Gated Response &amp; Sovereignty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Blast-Radius Safety Gating: </a:t>
            </a:r>
            <a:r>
              <a:rPr b="0">
                <a:solidFill>
                  <a:srgbClr val="F8FAFC"/>
                </a:solidFill>
              </a:rPr>
              <a:t>Enforce L0-L4 automation maturity model with human approval gates on high-risk assets.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Sub-5-Minute MTTR: </a:t>
            </a:r>
            <a:r>
              <a:rPr b="0">
                <a:solidFill>
                  <a:srgbClr val="F8FAFC"/>
                </a:solidFill>
              </a:rPr>
              <a:t>Accelerate end-to-end incident response from days to under 4 minutes.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Air-Gapped Sovereign Readiness: </a:t>
            </a:r>
            <a:r>
              <a:rPr b="0">
                <a:solidFill>
                  <a:srgbClr val="F8FAFC"/>
                </a:solidFill>
              </a:rPr>
              <a:t>Enable fully offline execution with local Ollama LLMs and zero cloud dependencies.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5 | 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Introduction: The Asymmetric Warfare in Enterprise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Evolution from legacy manual SOC operations to autonomous multi-agent cyber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The Modern Threat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Asymmetric Warfare: </a:t>
            </a:r>
            <a:r>
              <a:rPr b="0">
                <a:solidFill>
                  <a:srgbClr val="F8FAFC"/>
                </a:solidFill>
              </a:rPr>
              <a:t>Attackers leverage AI-driven automation to scan and exploit vulnerabilities in milliseconds.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Multi-Stage Campaigns: </a:t>
            </a:r>
            <a:r>
              <a:rPr b="0">
                <a:solidFill>
                  <a:srgbClr val="F8FAFC"/>
                </a:solidFill>
              </a:rPr>
              <a:t>Modern attacks involve sophisticated multi-hop lateral movement across hybrid cloud identity fabrics.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Ransomware Speed: </a:t>
            </a:r>
            <a:r>
              <a:rPr b="0">
                <a:solidFill>
                  <a:srgbClr val="F8FAFC"/>
                </a:solidFill>
              </a:rPr>
              <a:t>Active ransomware encryption begins within 45 minutes of initial perimeter breach.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Human Capacity Limit: </a:t>
            </a:r>
            <a:r>
              <a:rPr b="0">
                <a:solidFill>
                  <a:srgbClr val="F8FAFC"/>
                </a:solidFill>
              </a:rPr>
              <a:t>Human analysts cannot manually keep pace with millions of telemetry events per second.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27632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The Multi-Agent Paradigm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5740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Beyond Single Chatbots: </a:t>
            </a:r>
            <a:r>
              <a:rPr b="0">
                <a:solidFill>
                  <a:srgbClr val="F8FAFC"/>
                </a:solidFill>
              </a:rPr>
              <a:t>Single-prompt LLMs fail in SOCs due to lack of tool integration, hallucination, and state loss.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Collaborative Multi-Agent DAG: </a:t>
            </a:r>
            <a:r>
              <a:rPr b="0">
                <a:solidFill>
                  <a:srgbClr val="F8FAFC"/>
                </a:solidFill>
              </a:rPr>
              <a:t>AiSOC uses specialized agents that reason, plan, and verify actions across discrete stages.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LangGraph State Machine: </a:t>
            </a:r>
            <a:r>
              <a:rPr b="0">
                <a:solidFill>
                  <a:srgbClr val="F8FAFC"/>
                </a:solidFill>
              </a:rPr>
              <a:t>Cyclic graph routing with checkpointing ensures deterministic execution and zero loops.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Transparent Reasoning: </a:t>
            </a:r>
            <a:r>
              <a:rPr b="0">
                <a:solidFill>
                  <a:srgbClr val="F8FAFC"/>
                </a:solidFill>
              </a:rPr>
              <a:t>Every decision is accompanied by a full chain-of-thought provenance and confidence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627632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UN SDG Global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05740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SDG 9 (Resilient Infra): </a:t>
            </a:r>
            <a:r>
              <a:rPr b="0">
                <a:solidFill>
                  <a:srgbClr val="F8FAFC"/>
                </a:solidFill>
              </a:rPr>
              <a:t>Protects vital digital enterprise infrastructure and democratizes cyber defense via open-source.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SDG 16 (Peace &amp; Justice): </a:t>
            </a:r>
            <a:r>
              <a:rPr b="0">
                <a:solidFill>
                  <a:srgbClr val="F8FAFC"/>
                </a:solidFill>
              </a:rPr>
              <a:t>Provides tamper-evident cryptographic audit ledgers to combat cybercrime and ensure accountability.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SDG 8 (Decent Work): </a:t>
            </a:r>
            <a:r>
              <a:rPr b="0">
                <a:solidFill>
                  <a:srgbClr val="F8FAFC"/>
                </a:solidFill>
              </a:rPr>
              <a:t>Eliminates soul-crushing 24/7 alert fatigue, allowing analysts to perform strategic engineering.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SDG 4 (Quality Education): </a:t>
            </a:r>
            <a:r>
              <a:rPr b="0">
                <a:solidFill>
                  <a:srgbClr val="F8FAFC"/>
                </a:solidFill>
              </a:rPr>
              <a:t>Provides a lightweight 30-second sandbox (aisoc-sandbox demo) for student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6 | ACADEMIC &amp; INDUSTRIAL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Literature Survey: Review of State-of-the-Art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Critical review of SIEM evolution, SOAR orchestration, and machine learning triage in cybersecurity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1. SIEM &amp; Rule-Based Correlation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Foundational Works: </a:t>
            </a:r>
            <a:r>
              <a:rPr b="0">
                <a:solidFill>
                  <a:srgbClr val="F8FAFC"/>
                </a:solidFill>
              </a:rPr>
              <a:t>Splunk, Elastic SIEM, Microsoft Sentinel, IBM QRadar architectures.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Methodology: </a:t>
            </a:r>
            <a:r>
              <a:rPr b="0">
                <a:solidFill>
                  <a:srgbClr val="F8FAFC"/>
                </a:solidFill>
              </a:rPr>
              <a:t>Centralized log aggregation with regex-based alert rules and statistical threshold counting.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Academic Consensus: </a:t>
            </a:r>
            <a:r>
              <a:rPr b="0">
                <a:solidFill>
                  <a:srgbClr val="F8FAFC"/>
                </a:solidFill>
              </a:rPr>
              <a:t>High sensitivity but catastrophic false-positive rate (&gt;80%), with zero intrinsic semantic understanding of attacker intent.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2. SOAR Orchestration &amp; Playbook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Foundational Works: </a:t>
            </a:r>
            <a:r>
              <a:rPr b="0">
                <a:solidFill>
                  <a:srgbClr val="F8FAFC"/>
                </a:solidFill>
              </a:rPr>
              <a:t>Palo Alto Cortex XSOAR, Splunk Phantom, Tines automated workflows.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Methodology: </a:t>
            </a:r>
            <a:r>
              <a:rPr b="0">
                <a:solidFill>
                  <a:srgbClr val="F8FAFC"/>
                </a:solidFill>
              </a:rPr>
              <a:t>Imperative, hardcoded directed acyclic graphs (DAGs) executing scripted API calls on alerts.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Academic Consensus: </a:t>
            </a:r>
            <a:r>
              <a:rPr b="0">
                <a:solidFill>
                  <a:srgbClr val="F8FAFC"/>
                </a:solidFill>
              </a:rPr>
              <a:t>Extremely brittle; minor upstream API or schema changes break workflows, and systems cannot adapt dynamically to novel attack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3. Machine Learning in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Foundational Works: </a:t>
            </a:r>
            <a:r>
              <a:rPr b="0">
                <a:solidFill>
                  <a:srgbClr val="F8FAFC"/>
                </a:solidFill>
              </a:rPr>
              <a:t>Isolation Forests (Liu et al., 2008), LambdaRank (Burges, 2010), Autoencoders.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Methodology: </a:t>
            </a:r>
            <a:r>
              <a:rPr b="0">
                <a:solidFill>
                  <a:srgbClr val="F8FAFC"/>
                </a:solidFill>
              </a:rPr>
              <a:t>Unsupervised outlier detection and supervised Learning-to-Rank for alert scoring.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Academic Consensus: </a:t>
            </a:r>
            <a:r>
              <a:rPr b="0">
                <a:solidFill>
                  <a:srgbClr val="F8FAFC"/>
                </a:solidFill>
              </a:rPr>
              <a:t>Highly effective at noise reduction but requires robust feature engineering and ground-truth contextual enrichment to avoid blind spots.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4. Graph Databases &amp; LLM Reasoning in SOCs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Foundational Works: </a:t>
            </a:r>
            <a:r>
              <a:rPr b="0">
                <a:solidFill>
                  <a:srgbClr val="F8FAFC"/>
                </a:solidFill>
              </a:rPr>
              <a:t>Knowledge Graphs in Cyber (Neo4j), LangChain/LangGraph, MITRE ATT&amp;CK.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Methodology: </a:t>
            </a:r>
            <a:r>
              <a:rPr b="0">
                <a:solidFill>
                  <a:srgbClr val="F8FAFC"/>
                </a:solidFill>
              </a:rPr>
              <a:t>Entity relationship mapping combined with generative AI for natural language triage.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Academic Consensus: </a:t>
            </a:r>
            <a:r>
              <a:rPr b="0">
                <a:solidFill>
                  <a:srgbClr val="F8FAFC"/>
                </a:solidFill>
              </a:rPr>
              <a:t>Graph correlation provides critical multi-hop context; however, LLM action generation MUST be bounded by deterministic safety guardrails.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7 | RESEARCH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Findings in Literature Survey: The 4 Critical Gaps in Existing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Key technological deficiencies identified across literature that form the motivation for AiSOC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Gap 1: Absence of Universal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Problem: </a:t>
            </a:r>
            <a:r>
              <a:rPr b="0">
                <a:solidFill>
                  <a:srgbClr val="F8FAFC"/>
                </a:solidFill>
              </a:rPr>
              <a:t>Every security vendor (AWS, Okta, CrowdStrike, Zeek) emits completely proprietary JSON/syslog schemas.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Literature Deficiency: </a:t>
            </a:r>
            <a:r>
              <a:rPr b="0">
                <a:solidFill>
                  <a:srgbClr val="F8FAFC"/>
                </a:solidFill>
              </a:rPr>
              <a:t>Existing systems rely on dozens of fragile regex parsers that break continuously.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AiSOC Solution: </a:t>
            </a:r>
            <a:r>
              <a:rPr b="0">
                <a:solidFill>
                  <a:srgbClr val="F8FAFC"/>
                </a:solidFill>
              </a:rPr>
              <a:t>Native Open Cybersecurity Schema Framework (OCSF v1.1.0) standardization at the ingest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Gap 2: Ingestion-Time Graph Construction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Problem: </a:t>
            </a:r>
            <a:r>
              <a:rPr b="0">
                <a:solidFill>
                  <a:srgbClr val="F8FAFC"/>
                </a:solidFill>
              </a:rPr>
              <a:t>Traditional graph intrusion detection systems process graphs in slow offline batch jobs.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Literature Deficiency: </a:t>
            </a:r>
            <a:r>
              <a:rPr b="0">
                <a:solidFill>
                  <a:srgbClr val="F8FAFC"/>
                </a:solidFill>
              </a:rPr>
              <a:t>Fails to provide active analysts with real-time entity pivoting during live lateral movement.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AiSOC Solution: </a:t>
            </a:r>
            <a:r>
              <a:rPr b="0">
                <a:solidFill>
                  <a:srgbClr val="F8FAFC"/>
                </a:solidFill>
              </a:rPr>
              <a:t>Batched streaming UNWIND queries update Neo4j entity graph (17 nodes, 14 edges) inline with Kafka ingest.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Gap 3: Single-Model Triage Inadequacy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Problem: </a:t>
            </a:r>
            <a:r>
              <a:rPr b="0">
                <a:solidFill>
                  <a:srgbClr val="F8FAFC"/>
                </a:solidFill>
              </a:rPr>
              <a:t>Standalone Isolation Forest or standalone neural networks either over-filter or under-filter alerts.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Literature Deficiency: </a:t>
            </a:r>
            <a:r>
              <a:rPr b="0">
                <a:solidFill>
                  <a:srgbClr val="F8FAFC"/>
                </a:solidFill>
              </a:rPr>
              <a:t>Lack of a dual-stage architecture combining unsupervised outlier filtering with supervised ranking.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AiSOC Solution: </a:t>
            </a:r>
            <a:r>
              <a:rPr b="0">
                <a:solidFill>
                  <a:srgbClr val="F8FAFC"/>
                </a:solidFill>
              </a:rPr>
              <a:t>Dual-Stage Pipeline: Isolation Forest (Anomaly Filter) + LambdaRank (Priority Ranking).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Gap 4: Dangerous LLM Blast-Radius Hazards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Problem: </a:t>
            </a:r>
            <a:r>
              <a:rPr b="0">
                <a:solidFill>
                  <a:srgbClr val="F8FAFC"/>
                </a:solidFill>
              </a:rPr>
              <a:t>Early LLM security agents directly execute unverified CLI commands, risking accidental infrastructure destruction.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Literature Deficiency: </a:t>
            </a:r>
            <a:r>
              <a:rPr b="0">
                <a:solidFill>
                  <a:srgbClr val="F8FAFC"/>
                </a:solidFill>
              </a:rPr>
              <a:t>Zero mathematical modeling of asset criticality, user tier, or blast-radius impact.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AiSOC Solution: </a:t>
            </a:r>
            <a:r>
              <a:rPr b="0">
                <a:solidFill>
                  <a:srgbClr val="F8FAFC"/>
                </a:solidFill>
              </a:rPr>
              <a:t>Blast-Radius Safety Gating (L0-L4 maturity ladder) with immutable cryptographic audit ledger.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8 | BASELINE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Existing Methodology: Traditional Multi-Tier SOC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Detailed examination of the legacy manual 3-tier escalation and triage funnel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Calibri"/>
              </a:defRPr>
            </a:pPr>
            <a:r>
              <a:t>1. Raw Telemetry Silos</a:t>
            </a:r>
            <a:br/>
            <a:r>
              <a:t>(EDR, Syslog, Firewalls)</a:t>
            </a:r>
            <a:br/>
            <a:r>
              <a:t>10M+ Daily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063240"/>
            <a:ext cx="1920240" cy="32004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3F5E"/>
                </a:solidFill>
                <a:latin typeface="Calibri"/>
              </a:defRPr>
            </a:pPr>
            <a:r>
              <a:t>Unnormalized Ingest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Calibri"/>
              </a:defRPr>
            </a:pPr>
            <a:r>
              <a:t>2. Static SIEM Rules</a:t>
            </a:r>
            <a:br/>
            <a:r>
              <a:t>(Threshold &amp; Regex)</a:t>
            </a:r>
            <a:br/>
            <a:r>
              <a:t>83% Benign Noise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3063240"/>
            <a:ext cx="1920240" cy="32004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BBF24"/>
                </a:solidFill>
                <a:latin typeface="Calibri"/>
              </a:defRPr>
            </a:pPr>
            <a:r>
              <a:t>High False Positives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Calibri"/>
              </a:defRPr>
            </a:pPr>
            <a:r>
              <a:t>3. Tier-1 Manual Triage</a:t>
            </a:r>
            <a:br/>
            <a:r>
              <a:t>(Copy-Paste IOCs)</a:t>
            </a:r>
            <a:br/>
            <a:r>
              <a:t>4 - 8 Hours Delay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063240"/>
            <a:ext cx="1920240" cy="32004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  <a:latin typeface="Calibri"/>
              </a:defRPr>
            </a:pPr>
            <a:r>
              <a:t>Cognitive Fatigue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Calibri"/>
              </a:defRPr>
            </a:pPr>
            <a:r>
              <a:t>4. Tier-3 Containment</a:t>
            </a:r>
            <a:br/>
            <a:r>
              <a:t>(Manual Host Isolation)</a:t>
            </a:r>
            <a:br/>
            <a:r>
              <a:t>103 Hours MTTR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3063240"/>
            <a:ext cx="1920240" cy="32004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3F5E"/>
                </a:solidFill>
                <a:latin typeface="Calibri"/>
              </a:defRPr>
            </a:pPr>
            <a:r>
              <a:t>Outage Risk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00400" y="2194560"/>
            <a:ext cx="27432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43600" y="2194560"/>
            <a:ext cx="27432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686800" y="2194560"/>
            <a:ext cx="27432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212080" cy="2651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2219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Critical Bottlenecks in Baseline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224528"/>
            <a:ext cx="480060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Extreme Handoff Latency: </a:t>
            </a:r>
            <a:r>
              <a:rPr b="0">
                <a:solidFill>
                  <a:srgbClr val="F8FAFC"/>
                </a:solidFill>
              </a:rPr>
              <a:t>70% of total investigation time is spent waiting in unread ticket queues between Tier-1, Tier-2, and Tier-3.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Severe Cognitive Burnout: </a:t>
            </a:r>
            <a:r>
              <a:rPr b="0">
                <a:solidFill>
                  <a:srgbClr val="F8FAFC"/>
                </a:solidFill>
              </a:rPr>
              <a:t>Analysts execute 50+ repetitive lookups per incident across VirusTotal, AlienVault, and Active Directory.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No Cross-Correlated Context: </a:t>
            </a:r>
            <a:r>
              <a:rPr b="0">
                <a:solidFill>
                  <a:srgbClr val="F8FAFC"/>
                </a:solidFill>
              </a:rPr>
              <a:t>Single-point detections fail to uncover multi-stage lateral movement across cloud and on-prem assets.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212080" cy="2651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82219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Operational &amp; Business Consequences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24528"/>
            <a:ext cx="480060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4.3-Day Attacker Dwell Time: </a:t>
            </a:r>
            <a:r>
              <a:rPr b="0">
                <a:solidFill>
                  <a:srgbClr val="F8FAFC"/>
                </a:solidFill>
              </a:rPr>
              <a:t>Ransomware operators encrypt systems within 45 minutes; 103 hours of delay is fatal.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Accidental Outage Hazards: </a:t>
            </a:r>
            <a:r>
              <a:rPr b="0">
                <a:solidFill>
                  <a:srgbClr val="F8FAFC"/>
                </a:solidFill>
              </a:rPr>
              <a:t>Manual CLI containment often isolates business-critical domain controllers and web servers.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Unsustainable Staffing Cost: </a:t>
            </a:r>
            <a:r>
              <a:rPr b="0">
                <a:solidFill>
                  <a:srgbClr val="F8FAFC"/>
                </a:solidFill>
              </a:rPr>
              <a:t>Requires 24/7 human staffing with an average analyst turnover rate under 18 months.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9 | SYSTEMIC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Demerits in Existing Methodology: Quantifying the Cost of Inefficiency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Numerical and operational impact of legacy SOC bottlenecks on enterprise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1. Crippling Alert Fatigue &amp; False Alarms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83% False Positive Rate: </a:t>
            </a:r>
            <a:r>
              <a:rPr b="0">
                <a:solidFill>
                  <a:srgbClr val="F8FAFC"/>
                </a:solidFill>
              </a:rPr>
              <a:t>Massive volume of benign operational alerts masks true advanced persistent threats (APTs).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Analyst Desensitization: </a:t>
            </a:r>
            <a:r>
              <a:rPr b="0">
                <a:solidFill>
                  <a:srgbClr val="F8FAFC"/>
                </a:solidFill>
              </a:rPr>
              <a:t>High cognitive saturation causes analysts to overlook legitimate credential dumping indicators.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High Industry Churn: </a:t>
            </a:r>
            <a:r>
              <a:rPr b="0">
                <a:solidFill>
                  <a:srgbClr val="F8FAFC"/>
                </a:solidFill>
              </a:rPr>
              <a:t>Average SOC analyst tenure is under 18 months due to chronic exhaustion from manual triage.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2. Dangerous Attacker Dwell Time (103 Hours)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4.3 Days Mean Time to Respond: </a:t>
            </a:r>
            <a:r>
              <a:rPr b="0">
                <a:solidFill>
                  <a:srgbClr val="F8FAFC"/>
                </a:solidFill>
              </a:rPr>
              <a:t>Attackers maintain unhindered network persistence, escalating from patient-zero to Domain Admin.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Rapid Exfiltration Window: </a:t>
            </a:r>
            <a:r>
              <a:rPr b="0">
                <a:solidFill>
                  <a:srgbClr val="F8FAFC"/>
                </a:solidFill>
              </a:rPr>
              <a:t>Ransomware operators encrypt files in under 45 minutes; 103 hours of delay is fatal.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Idle Queue Latency: </a:t>
            </a:r>
            <a:r>
              <a:rPr b="0">
                <a:solidFill>
                  <a:srgbClr val="F8FAFC"/>
                </a:solidFill>
              </a:rPr>
              <a:t>70% of total MTTR is spent waiting in unread ticket queues between SOC tiers.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3. Missing Multi-Hop Graph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Isolated Point Detections: </a:t>
            </a:r>
            <a:r>
              <a:rPr b="0">
                <a:solidFill>
                  <a:srgbClr val="F8FAFC"/>
                </a:solidFill>
              </a:rPr>
              <a:t>SIEMs view alerts in isolation; cannot correlate a phishing email with a subsequent PsExec execution.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Lack of Entity Memory: </a:t>
            </a:r>
            <a:r>
              <a:rPr b="0">
                <a:solidFill>
                  <a:srgbClr val="F8FAFC"/>
                </a:solidFill>
              </a:rPr>
              <a:t>Historical attacker infrastructure is forgotten once an alert ticket is marked closed.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Zero Attack Path Modeling: </a:t>
            </a:r>
            <a:r>
              <a:rPr b="0">
                <a:solidFill>
                  <a:srgbClr val="F8FAFC"/>
                </a:solidFill>
              </a:rPr>
              <a:t>Analysts must manually reconstruct network paths without automated graph traversal.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4. Remediation Hazards &amp; Prohibitive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Accidental Outage Risk: </a:t>
            </a:r>
            <a:r>
              <a:rPr b="0">
                <a:solidFill>
                  <a:srgbClr val="F8FAFC"/>
                </a:solidFill>
              </a:rPr>
              <a:t>Manual containment commands frequently isolate core DNS/Active Directory servers.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Commercial Monopolies: </a:t>
            </a:r>
            <a:r>
              <a:rPr b="0">
                <a:solidFill>
                  <a:srgbClr val="F8FAFC"/>
                </a:solidFill>
              </a:rPr>
              <a:t>Enterprise SIEM licenses cost millions annually while locking users into closed ecosystems.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Compliance Blindspots: </a:t>
            </a:r>
            <a:r>
              <a:rPr b="0">
                <a:solidFill>
                  <a:srgbClr val="F8FAFC"/>
                </a:solidFill>
              </a:rPr>
              <a:t>Manual ticket logs lack tamper-proof cryptographic audit trails required for legal forensics.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10 |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Proposed Methodology: The 4-Agent Autonomous Defense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Replacing manual triage with an intelligent, collaborative, schema-governed multi-agent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21579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1. DetectAgent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8"/>
            <a:ext cx="2231136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Stage: </a:t>
            </a:r>
            <a:r>
              <a:rPr b="0">
                <a:solidFill>
                  <a:srgbClr val="F8FAFC"/>
                </a:solidFill>
              </a:rPr>
              <a:t>Ingest &amp; Schema Normalization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Input: </a:t>
            </a:r>
            <a:r>
              <a:rPr b="0">
                <a:solidFill>
                  <a:srgbClr val="F8FAFC"/>
                </a:solidFill>
              </a:rPr>
              <a:t>Syslog, GuardDuty, Okta, Zeek, EDR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Standard: </a:t>
            </a:r>
            <a:r>
              <a:rPr b="0">
                <a:solidFill>
                  <a:srgbClr val="F8FAFC"/>
                </a:solidFill>
              </a:rPr>
              <a:t>OCSF JSON Mapping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Throughput: </a:t>
            </a:r>
            <a:r>
              <a:rPr b="0">
                <a:solidFill>
                  <a:srgbClr val="F8FAFC"/>
                </a:solidFill>
              </a:rPr>
              <a:t>10,000+ EPS via Kafka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Role: </a:t>
            </a:r>
            <a:r>
              <a:rPr b="0">
                <a:solidFill>
                  <a:srgbClr val="F8FAFC"/>
                </a:solidFill>
              </a:rPr>
              <a:t>Transforms heterogeneous raw logs into standardized OCSF classes and triggers real-time graph node upserts.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627632"/>
            <a:ext cx="21579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2. TriageAgent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029968"/>
            <a:ext cx="2231136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Stage: </a:t>
            </a:r>
            <a:r>
              <a:rPr b="0">
                <a:solidFill>
                  <a:srgbClr val="F8FAFC"/>
                </a:solidFill>
              </a:rPr>
              <a:t>Dual-Stage Machine Learning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Engines: </a:t>
            </a:r>
            <a:r>
              <a:rPr b="0">
                <a:solidFill>
                  <a:srgbClr val="F8FAFC"/>
                </a:solidFill>
              </a:rPr>
              <a:t>Bloom Filter + Isolation Forest + LambdaRank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Noise Filter: </a:t>
            </a:r>
            <a:r>
              <a:rPr b="0">
                <a:solidFill>
                  <a:srgbClr val="F8FAFC"/>
                </a:solidFill>
              </a:rPr>
              <a:t>Suppresses 89.4% Benign Alarms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Scoring: </a:t>
            </a:r>
            <a:r>
              <a:rPr b="0">
                <a:solidFill>
                  <a:srgbClr val="F8FAFC"/>
                </a:solidFill>
              </a:rPr>
              <a:t>0-100 Confidence &amp; Severity Band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Role: </a:t>
            </a:r>
            <a:r>
              <a:rPr b="0">
                <a:solidFill>
                  <a:srgbClr val="F8FAFC"/>
                </a:solidFill>
              </a:rPr>
              <a:t>Evaluates behavioral anomalies against baselines, checks C2 IOCs in O(1) time, and filters benign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56032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27632"/>
            <a:ext cx="21579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3. HuntAgent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029968"/>
            <a:ext cx="2231136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Stage: </a:t>
            </a:r>
            <a:r>
              <a:rPr b="0">
                <a:solidFill>
                  <a:srgbClr val="F8FAFC"/>
                </a:solidFill>
              </a:rPr>
              <a:t>Graph Traversal &amp; Root Cause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Engine: </a:t>
            </a:r>
            <a:r>
              <a:rPr b="0">
                <a:solidFill>
                  <a:srgbClr val="F8FAFC"/>
                </a:solidFill>
              </a:rPr>
              <a:t>Neo4j Knowledge Graph &amp; Cypher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Topology: </a:t>
            </a:r>
            <a:r>
              <a:rPr b="0">
                <a:solidFill>
                  <a:srgbClr val="F8FAFC"/>
                </a:solidFill>
              </a:rPr>
              <a:t>17 Node Labels, 14 Edge Types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Correlation: </a:t>
            </a:r>
            <a:r>
              <a:rPr b="0">
                <a:solidFill>
                  <a:srgbClr val="F8FAFC"/>
                </a:solidFill>
              </a:rPr>
              <a:t>MITRE ATT&amp;CK Matrix Mapping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Role: </a:t>
            </a:r>
            <a:r>
              <a:rPr b="0">
                <a:solidFill>
                  <a:srgbClr val="F8FAFC"/>
                </a:solidFill>
              </a:rPr>
              <a:t>Executes multi-hop graph queries to uncover lateral movement paths, compromised identities, and patient-zero.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63040"/>
            <a:ext cx="256032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1627632"/>
            <a:ext cx="21579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4. RespondAgent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029968"/>
            <a:ext cx="2231136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Stage: </a:t>
            </a:r>
            <a:r>
              <a:rPr b="0">
                <a:solidFill>
                  <a:srgbClr val="F8FAFC"/>
                </a:solidFill>
              </a:rPr>
              <a:t>Blast-Radius Gated Response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Safety Model: </a:t>
            </a:r>
            <a:r>
              <a:rPr b="0">
                <a:solidFill>
                  <a:srgbClr val="F8FAFC"/>
                </a:solidFill>
              </a:rPr>
              <a:t>Blast-Radius L0-L4 Maturity Gating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Playbooks: </a:t>
            </a:r>
            <a:r>
              <a:rPr b="0">
                <a:solidFill>
                  <a:srgbClr val="F8FAFC"/>
                </a:solidFill>
              </a:rPr>
              <a:t>25 Parameterised Actions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Auditability: </a:t>
            </a:r>
            <a:r>
              <a:rPr b="0">
                <a:solidFill>
                  <a:srgbClr val="F8FAFC"/>
                </a:solidFill>
              </a:rPr>
              <a:t>Cryptographic Audit Ledger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Role: </a:t>
            </a:r>
            <a:r>
              <a:rPr b="0">
                <a:solidFill>
                  <a:srgbClr val="F8FAFC"/>
                </a:solidFill>
              </a:rPr>
              <a:t>Executes verified containment playbooks with automated asset impact calculation and human-in-the-loop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11 | SYSTEM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System Architecture of 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End-to-end multi-layer architecture integrating streaming ingest, ML scoring, graph correlation, and web 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1. Ingestion &amp; OCSF Normalization 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16+ First-Party Connectors: </a:t>
            </a:r>
            <a:r>
              <a:rPr b="0">
                <a:solidFill>
                  <a:srgbClr val="F8FAFC"/>
                </a:solidFill>
              </a:rPr>
              <a:t>AWS GuardDuty, Okta, CrowdStrike, Zeek, Sysdig, Tines, Syslog.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Distributed Kafka Broker: </a:t>
            </a:r>
            <a:r>
              <a:rPr b="0">
                <a:solidFill>
                  <a:srgbClr val="F8FAFC"/>
                </a:solidFill>
              </a:rPr>
              <a:t>Partitioned streaming topics sustaining 10,000+ EPS with zero loss.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OCSF Schema Engine: </a:t>
            </a:r>
            <a:r>
              <a:rPr b="0">
                <a:solidFill>
                  <a:srgbClr val="F8FAFC"/>
                </a:solidFill>
              </a:rPr>
              <a:t>Standardizes raw vendor events into universal cybersecurity classes.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2. ML Triage &amp; Knowledge Graph Fabric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In-Memory Bloom Filter: </a:t>
            </a:r>
            <a:r>
              <a:rPr b="0">
                <a:solidFill>
                  <a:srgbClr val="F8FAFC"/>
                </a:solidFill>
              </a:rPr>
              <a:t>O(1) constant-time C2 and Threat Intel IOC evaluation (50k IOCs/sec).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Dual-Stage ML Engine: </a:t>
            </a:r>
            <a:r>
              <a:rPr b="0">
                <a:solidFill>
                  <a:srgbClr val="F8FAFC"/>
                </a:solidFill>
              </a:rPr>
              <a:t>Stage-1 Isolation Forest (Noise Filter) + Stage-2 LambdaRank (Priority).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Neo4j Streaming Graph: </a:t>
            </a:r>
            <a:r>
              <a:rPr b="0">
                <a:solidFill>
                  <a:srgbClr val="F8FAFC"/>
                </a:solidFill>
              </a:rPr>
              <a:t>Real-time entity graph (17 node labels, 14 edge types) updated via UNWIND.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3. Multi-Agent DAG &amp; Security Fabric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LangGraph State Machine: </a:t>
            </a:r>
            <a:r>
              <a:rPr b="0">
                <a:solidFill>
                  <a:srgbClr val="F8FAFC"/>
                </a:solidFill>
              </a:rPr>
              <a:t>Cyclic multi-agent orchestration with deterministic state checkpointing.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Fernet AES-128 Vault: </a:t>
            </a:r>
            <a:r>
              <a:rPr b="0">
                <a:solidFill>
                  <a:srgbClr val="F8FAFC"/>
                </a:solidFill>
              </a:rPr>
              <a:t>Application-layer encrypted credential vault (vault:v1:&lt;token&gt;) for BYOK secrets.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PostgreSQL 16 &amp; Redis: </a:t>
            </a:r>
            <a:r>
              <a:rPr b="0">
                <a:solidFill>
                  <a:srgbClr val="F8FAFC"/>
                </a:solidFill>
              </a:rPr>
              <a:t>Async SQLAlchemy persistence with Redis Pub/Sub real-time event streaming.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4. Analyst Workbench &amp; Gated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Next.js 14 SSR Console: </a:t>
            </a:r>
            <a:r>
              <a:rPr b="0">
                <a:solidFill>
                  <a:srgbClr val="F8FAFC"/>
                </a:solidFill>
              </a:rPr>
              <a:t>Interactive 2-pane workbench with WebSocket alert queue &amp; Investigation Rail.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Blast-Radius L0-L4 Gating: </a:t>
            </a:r>
            <a:r>
              <a:rPr b="0">
                <a:solidFill>
                  <a:srgbClr val="F8FAFC"/>
                </a:solidFill>
              </a:rPr>
              <a:t>Evaluates asset criticality before executing 25 parameterised playbooks.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Cryptographic Audit Ledger: </a:t>
            </a:r>
            <a:r>
              <a:rPr b="0">
                <a:solidFill>
                  <a:srgbClr val="F8FAFC"/>
                </a:solidFill>
              </a:rPr>
              <a:t>Tamper-evident SHA-256 ledger recording every agent action and human sign-off.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12 | MODULE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List of Modules in 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The four interconnected technical modules comprising the AiSOC autonomous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Module 1: Telemetry Ingestion &amp; OCSF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Core Focus: </a:t>
            </a:r>
            <a:r>
              <a:rPr b="0">
                <a:solidFill>
                  <a:srgbClr val="F8FAFC"/>
                </a:solidFill>
              </a:rPr>
              <a:t>High-Throughput Streaming Log Normalization &amp; Schema Standard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Key Technologies: </a:t>
            </a:r>
            <a:r>
              <a:rPr b="0">
                <a:solidFill>
                  <a:srgbClr val="F8FAFC"/>
                </a:solidFill>
              </a:rPr>
              <a:t>FastAPI, Apache Kafka, Pydantic v2, OCSF Schema v1.1.0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Primary Function: </a:t>
            </a:r>
            <a:r>
              <a:rPr b="0">
                <a:solidFill>
                  <a:srgbClr val="F8FAFC"/>
                </a:solidFill>
              </a:rPr>
              <a:t>Ingests raw telemetry across 16+ connectors, decrypts vault secrets, and validates standard OCSF JSON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Module 2: Dual-Stage ML Triage &amp; Threat Intel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Core Focus: </a:t>
            </a:r>
            <a:r>
              <a:rPr b="0">
                <a:solidFill>
                  <a:srgbClr val="F8FAFC"/>
                </a:solidFill>
              </a:rPr>
              <a:t>Intelligent False-Positive Suppression &amp; Priority Ranking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Key Technologies: </a:t>
            </a:r>
            <a:r>
              <a:rPr b="0">
                <a:solidFill>
                  <a:srgbClr val="F8FAFC"/>
                </a:solidFill>
              </a:rPr>
              <a:t>Scalable Bloom Filter, Scikit-learn (Isolation Forest), LightGBM (LambdaRank)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Primary Function: </a:t>
            </a:r>
            <a:r>
              <a:rPr b="0">
                <a:solidFill>
                  <a:srgbClr val="F8FAFC"/>
                </a:solidFill>
              </a:rPr>
              <a:t>Filters 89.4% benign noise, performs sub-millisecond C2 IOC matching, and generates 0-100 severity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Module 3: Knowledge Graph Threat Hunting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Core Focus: </a:t>
            </a:r>
            <a:r>
              <a:rPr b="0">
                <a:solidFill>
                  <a:srgbClr val="F8FAFC"/>
                </a:solidFill>
              </a:rPr>
              <a:t>Streaming Entity Graph, Multi-Hop Correlation &amp; MITRE Mapping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Key Technologies: </a:t>
            </a:r>
            <a:r>
              <a:rPr b="0">
                <a:solidFill>
                  <a:srgbClr val="F8FAFC"/>
                </a:solidFill>
              </a:rPr>
              <a:t>Neo4j Graph Database, Cypher Query Language, LangChain RAG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Primary Function: </a:t>
            </a:r>
            <a:r>
              <a:rPr b="0">
                <a:solidFill>
                  <a:srgbClr val="F8FAFC"/>
                </a:solidFill>
              </a:rPr>
              <a:t>Reconstructs attack paths (17 nodes / 14 edges), maps MITRE techniques, and provides natural-language /hunt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Module 4: Blast-Radius Gated Response &amp; SOAR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Core Focus: </a:t>
            </a:r>
            <a:r>
              <a:rPr b="0">
                <a:solidFill>
                  <a:srgbClr val="F8FAFC"/>
                </a:solidFill>
              </a:rPr>
              <a:t>Deterministic Safety Gating, Playbook Automation &amp; Audit Ledger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Key Technologies: </a:t>
            </a:r>
            <a:r>
              <a:rPr b="0">
                <a:solidFill>
                  <a:srgbClr val="F8FAFC"/>
                </a:solidFill>
              </a:rPr>
              <a:t>LangGraph State Machine, Celery Workers, SSRF Guard, Fernet Vault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Primary Function: </a:t>
            </a:r>
            <a:r>
              <a:rPr b="0">
                <a:solidFill>
                  <a:srgbClr val="F8FAFC"/>
                </a:solidFill>
              </a:rPr>
              <a:t>Enforces L0-L4 maturity model, executes parameterised playbooks, and records immutable tamper-evident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13 | MODULE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Module 1: Telemetry Ingestion &amp; OCSF Normalization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Standardizing heterogeneous enterprise telemetry into unified Open Cybersecurity Schema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9867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Module 1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3977639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16+ First-Party Connectors: </a:t>
            </a:r>
            <a:r>
              <a:rPr b="0">
                <a:solidFill>
                  <a:srgbClr val="F8FAFC"/>
                </a:solidFill>
              </a:rPr>
              <a:t>Pre-built connectors for AWS GuardDuty, CrowdStrike, Okta, Sysdig, Zeek, Tines, Cloudflare ZT, Vault, etc.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Kafka Distributed Ingest: </a:t>
            </a:r>
            <a:r>
              <a:rPr b="0">
                <a:solidFill>
                  <a:srgbClr val="F8FAFC"/>
                </a:solidFill>
              </a:rPr>
              <a:t>Partitioned message broker sustaining 10,000+ EPS with guaranteed delivery.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OCSF JSON Normalization: </a:t>
            </a:r>
            <a:r>
              <a:rPr b="0">
                <a:solidFill>
                  <a:srgbClr val="F8FAFC"/>
                </a:solidFill>
              </a:rPr>
              <a:t>Maps raw logs into standard classes (Authentication, Process Activity, Network Traffic).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Encrypted Credential Vault: </a:t>
            </a:r>
            <a:r>
              <a:rPr b="0">
                <a:solidFill>
                  <a:srgbClr val="F8FAFC"/>
                </a:solidFill>
              </a:rPr>
              <a:t>Sensitive auth tokens stored as vault:v1:&lt;base64&gt; encrypted with Fernet AES-128-CBC + HMAC-SHA256.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5-Tier Severity Ladder: </a:t>
            </a:r>
            <a:r>
              <a:rPr b="0">
                <a:solidFill>
                  <a:srgbClr val="F8FAFC"/>
                </a:solidFill>
              </a:rPr>
              <a:t>Preserves exact vendor severity (info, low, medium, high, critical) without collapsing.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63040"/>
            <a:ext cx="6126480" cy="4846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04688" y="1627632"/>
            <a:ext cx="57241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Live System Observability &amp; Ingest Pipeline</a:t>
            </a:r>
          </a:p>
        </p:txBody>
      </p:sp>
      <p:pic>
        <p:nvPicPr>
          <p:cNvPr id="11" name="Picture 10" descr="screen10_system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57400"/>
            <a:ext cx="57607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14 | MODULE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Module 2: Dual-Stage ML Triage &amp; Threat Intelligence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In-memory Bloom filter threat intel matching and dual-stage machine learning noise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9867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Module 2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3977639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In-Memory Bloom Filter: </a:t>
            </a:r>
            <a:r>
              <a:rPr b="0">
                <a:solidFill>
                  <a:srgbClr val="F8FAFC"/>
                </a:solidFill>
              </a:rPr>
              <a:t>Evaluates 50,000+ IOCs/sec in constant O(1) time with mathematical zero false negatives.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Stage-1: Isolation Forest: </a:t>
            </a:r>
            <a:r>
              <a:rPr b="0">
                <a:solidFill>
                  <a:srgbClr val="F8FAFC"/>
                </a:solidFill>
              </a:rPr>
              <a:t>Unsupervised anomaly detection scoring s(x, n) = 2^(-E(h(x))/c(n)) across 100 decision trees to filter benign administrative noise.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Stage-2: LambdaRank: </a:t>
            </a:r>
            <a:r>
              <a:rPr b="0">
                <a:solidFill>
                  <a:srgbClr val="F8FAFC"/>
                </a:solidFill>
              </a:rPr>
              <a:t>Supervised Learning-to-Rank optimizing pairwise loss λ_ij to prioritize true security incidents.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89.4% Noise Suppression: </a:t>
            </a:r>
            <a:r>
              <a:rPr b="0">
                <a:solidFill>
                  <a:srgbClr val="F8FAFC"/>
                </a:solidFill>
              </a:rPr>
              <a:t>Proven suppression of false positives, reducing 500+ daily alerts to actionable cases.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Dynamic Scoring Output: </a:t>
            </a:r>
            <a:r>
              <a:rPr b="0">
                <a:solidFill>
                  <a:srgbClr val="F8FAFC"/>
                </a:solidFill>
              </a:rPr>
              <a:t>Emits calibrated 0-100 Confidence score and assigned severity band.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63040"/>
            <a:ext cx="6126480" cy="4846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04688" y="1627632"/>
            <a:ext cx="57241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Autonomous Alert Triage Execution Result</a:t>
            </a:r>
          </a:p>
        </p:txBody>
      </p:sp>
      <p:pic>
        <p:nvPicPr>
          <p:cNvPr id="11" name="Picture 10" descr="screen2_cli_triag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57400"/>
            <a:ext cx="57607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15 | MODULE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Module 3: Real-Time Knowledge Graph &amp; Multi-Hop Threat Hunting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Streaming Neo4j graph entity correlation, attack path pivoting, and natural language threat hunting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9867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Module 3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3977639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Graph at Ingest: </a:t>
            </a:r>
            <a:r>
              <a:rPr b="0">
                <a:solidFill>
                  <a:srgbClr val="F8FAFC"/>
                </a:solidFill>
              </a:rPr>
              <a:t>Neo4j graph populated in real-time via batched UNWIND transactions without blocking ingest.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Comprehensive Topology: </a:t>
            </a:r>
            <a:r>
              <a:rPr b="0">
                <a:solidFill>
                  <a:srgbClr val="F8FAFC"/>
                </a:solidFill>
              </a:rPr>
              <a:t>Models 17 node types (User, Process, Host, IP, Alert) and 14 edge types (SPAWNED_ON, AUTHENTICATED_TO).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Multi-Hop Attack Correlation: </a:t>
            </a:r>
            <a:r>
              <a:rPr b="0">
                <a:solidFill>
                  <a:srgbClr val="F8FAFC"/>
                </a:solidFill>
              </a:rPr>
              <a:t>Uncovers complex lateral movement chains (e.g. User -&gt; PowerShell -&gt; DCSync -&gt; DC-01).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MITRE ATT&amp;CK Matrix: </a:t>
            </a:r>
            <a:r>
              <a:rPr b="0">
                <a:solidFill>
                  <a:srgbClr val="F8FAFC"/>
                </a:solidFill>
              </a:rPr>
              <a:t>Tags MITRE tactics (Initial Access, Credential Dumping T1003, Lateral Movement T1021).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Natural Language /hunt: </a:t>
            </a:r>
            <a:r>
              <a:rPr b="0">
                <a:solidFill>
                  <a:srgbClr val="F8FAFC"/>
                </a:solidFill>
              </a:rPr>
              <a:t>Translates analyst plain-language prompts into syntax-validated KQL, SPL, and Cypher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63040"/>
            <a:ext cx="6126480" cy="4846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04688" y="1627632"/>
            <a:ext cx="57241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Natural Language Threat Hunting (/hunt) Workbench</a:t>
            </a:r>
          </a:p>
        </p:txBody>
      </p:sp>
      <p:pic>
        <p:nvPicPr>
          <p:cNvPr id="11" name="Picture 10" descr="app_screenshot_h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57400"/>
            <a:ext cx="57607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16 | MODULE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Module 4: Blast-Radius Gated Autonomous Response &amp; SOAR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Automated incident containment governed by strict L0-L4 maturity gating and immutable audit ledger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9867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Module 4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3977639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Blast-Radius Function: </a:t>
            </a:r>
            <a:r>
              <a:rPr b="0">
                <a:solidFill>
                  <a:srgbClr val="F8FAFC"/>
                </a:solidFill>
              </a:rPr>
              <a:t>B(Action) = Σ [w_k * Impact(Asset_k, Action)] evaluates asset criticality and operational risk.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L0-L4 Maturity Ladder: </a:t>
            </a:r>
            <a:r>
              <a:rPr b="0">
                <a:solidFill>
                  <a:srgbClr val="F8FAFC"/>
                </a:solidFill>
              </a:rPr>
              <a:t>L0: Read-only; L1: Low impact (flush cache); L2: Moderate (temp IP block); L3/L4: High impact (requires human sign-off).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25 Parameterised Playbooks: </a:t>
            </a:r>
            <a:r>
              <a:rPr b="0">
                <a:solidFill>
                  <a:srgbClr val="F8FAFC"/>
                </a:solidFill>
              </a:rPr>
              <a:t>Automated workflows for host quarantine, session revocation, firewall blocking, and token rotation.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SSRF &amp; Safety Guard: </a:t>
            </a:r>
            <a:r>
              <a:rPr b="0">
                <a:solidFill>
                  <a:srgbClr val="F8FAFC"/>
                </a:solidFill>
              </a:rPr>
              <a:t>All outbound HTTP actions verified against private IP and cloud metadata blocklists.</a:t>
            </a:r>
          </a:p>
          <a:p>
            <a:pPr>
              <a:spcAft>
                <a:spcPts val="450"/>
              </a:spcAft>
              <a:defRPr sz="10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Cryptographic Audit Ledger: </a:t>
            </a:r>
            <a:r>
              <a:rPr b="0">
                <a:solidFill>
                  <a:srgbClr val="F8FAFC"/>
                </a:solidFill>
              </a:rPr>
              <a:t>Immutable chain-of-thought ledger capturing analyst overrides, token signatures, and justification.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63040"/>
            <a:ext cx="6126480" cy="4846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04688" y="1627632"/>
            <a:ext cx="57241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alibri"/>
              </a:defRPr>
            </a:pPr>
            <a:r>
              <a:t>Visual Playbook Studio &amp; Action Approval</a:t>
            </a:r>
          </a:p>
        </p:txBody>
      </p:sp>
      <p:pic>
        <p:nvPicPr>
          <p:cNvPr id="11" name="Picture 10" descr="screen8_action_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57400"/>
            <a:ext cx="57607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17 | 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Experimental Results: Benchmarks, Graphs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Validation against a standardized dataset of 200 incidents and 50,000 security telemetry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ADE80"/>
                </a:solidFill>
                <a:latin typeface="Calibri"/>
              </a:defRPr>
            </a:pPr>
            <a:r>
              <a:t>89.4%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Alert Noise 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447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D4BF"/>
                </a:solidFill>
                <a:latin typeface="Calibri"/>
              </a:defRPr>
            </a:pPr>
            <a:r>
              <a:t>3.8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Mean Time to Respond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447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96.4%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MITRE ATT&amp;CK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4447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9659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Zero-Outage Safety Rate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2606040"/>
          <a:ext cx="53035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43000"/>
                <a:gridCol w="1143000"/>
                <a:gridCol w="1188720"/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Traditional SIEM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Legacy SOAR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AiSOC (Ours)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Mean Time to Respond (MTTR)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103.2 hrs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14.5 hrs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DD4BF"/>
                          </a:solidFill>
                          <a:latin typeface="Calibri"/>
                        </a:defRPr>
                      </a:pPr>
                      <a:r>
                        <a:t>3.8 mins</a:t>
                      </a:r>
                    </a:p>
                  </a:txBody>
                  <a:tcPr>
                    <a:solidFill>
                      <a:srgbClr val="18304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False-Positive Noise Ratio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83.4%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62.1%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DD4BF"/>
                          </a:solidFill>
                          <a:latin typeface="Calibri"/>
                        </a:defRPr>
                      </a:pPr>
                      <a:r>
                        <a:t>10.6% (89.4% filtered)</a:t>
                      </a:r>
                    </a:p>
                  </a:txBody>
                  <a:tcPr>
                    <a:solidFill>
                      <a:srgbClr val="18304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MITRE ATT&amp;CK 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58.5%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DD4BF"/>
                          </a:solidFill>
                          <a:latin typeface="Calibri"/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18304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Containment Safety Outage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DD4BF"/>
                          </a:solidFill>
                          <a:latin typeface="Calibri"/>
                        </a:defRPr>
                      </a:pPr>
                      <a:r>
                        <a:t>0.0% (100% Gated)</a:t>
                      </a:r>
                    </a:p>
                  </a:txBody>
                  <a:tcPr>
                    <a:solidFill>
                      <a:srgbClr val="183046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217920" y="2606040"/>
            <a:ext cx="5212080" cy="3931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70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Empirical Performance Benchmark Charts</a:t>
            </a:r>
          </a:p>
        </p:txBody>
      </p:sp>
      <p:pic>
        <p:nvPicPr>
          <p:cNvPr id="21" name="Picture 20" descr="ppt_fig_experiment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10896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18 |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Conclusion &amp; Future Work: Advancing Autonomous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Key research milestones achieved and strategic roadmap for 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Project Milestones &amp;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480060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Full-Lifecycle Implementation: </a:t>
            </a:r>
            <a:r>
              <a:rPr b="0">
                <a:solidFill>
                  <a:srgbClr val="F8FAFC"/>
                </a:solidFill>
              </a:rPr>
              <a:t>Delivered complete open-source 4-agent autonomous SOC platform unifying 16+ enterprise connectors under OCSF standards.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Validated 89.4% Noise Reduction: </a:t>
            </a:r>
            <a:r>
              <a:rPr b="0">
                <a:solidFill>
                  <a:srgbClr val="F8FAFC"/>
                </a:solidFill>
              </a:rPr>
              <a:t>Empirically proved dual-stage ML triage filters 89.4% of false alarms while reducing MTTR from 103 hours to 3.8 minutes.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Deterministic Safety &amp; Audit: </a:t>
            </a:r>
            <a:r>
              <a:rPr b="0">
                <a:solidFill>
                  <a:srgbClr val="F8FAFC"/>
                </a:solidFill>
              </a:rPr>
              <a:t>Engineered Blast-Radius L0-L4 maturity model, eliminating accidental outages and ensuring cryptographic forensic auditability.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Physical Testbed Verification: </a:t>
            </a:r>
            <a:r>
              <a:rPr b="0">
                <a:solidFill>
                  <a:srgbClr val="F8FAFC"/>
                </a:solidFill>
              </a:rPr>
              <a:t>Validated across enterprise Cisco Catalyst 3850, Sophos XG210 firewall, and Proxmox VE server cluster.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Production Open-Source Milestone: </a:t>
            </a:r>
            <a:r>
              <a:rPr b="0">
                <a:solidFill>
                  <a:srgbClr val="F8FAFC"/>
                </a:solidFill>
              </a:rPr>
              <a:t>Delivered deployable Next.js 14 web console, FastAPI microservices, and 939 executable detection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Future Research &amp;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57400"/>
            <a:ext cx="480060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Kernel eBPF Telemetry Ingestion: </a:t>
            </a:r>
            <a:r>
              <a:rPr b="0">
                <a:solidFill>
                  <a:srgbClr val="F8FAFC"/>
                </a:solidFill>
              </a:rPr>
              <a:t>Implement in-kernel eBPF probes for sub-millisecond rootkit detection bypassing user-space log tampering.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Federated Multi-Tenant Threat Intel: </a:t>
            </a:r>
            <a:r>
              <a:rPr b="0">
                <a:solidFill>
                  <a:srgbClr val="F8FAFC"/>
                </a:solidFill>
              </a:rPr>
              <a:t>Develop zero-knowledge proof federated learning allowing sovereign organizations to share C2 IOCs securely.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Self-Evolving Detection Engineering: </a:t>
            </a:r>
            <a:r>
              <a:rPr b="0">
                <a:solidFill>
                  <a:srgbClr val="F8FAFC"/>
                </a:solidFill>
              </a:rPr>
              <a:t>Build generative adversary emulation agents that automatically write, test, and tune Sigma/YARA rules.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Hardware-Accelerated Graph Inference: </a:t>
            </a:r>
            <a:r>
              <a:rPr b="0">
                <a:solidFill>
                  <a:srgbClr val="F8FAFC"/>
                </a:solidFill>
              </a:rPr>
              <a:t>Deploy GPU-accelerated Graph Neural Networks (GNNs) for predictive lateral movement path blocking.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SECTION 19 | ACADEMIC &amp; INDUSTRIAL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References: Key Foundational Literature &amp; Enterprise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Comprehensive bibliography of 15 peer-reviewed papers, international standards, and specifications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Academic &amp; Architectural References (1-8)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480060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[1] Open Cybersecurity Schema Framework (OCSF) v1.1.0 Specification. Linux Foundation, 2023.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[2] F. T. Liu, K. M. Ting, and Z.-H. Zhou, 'Isolation Forest,' in IEEE 8th International Conference on Data Mining (ICDM), 2008, pp. 413-422.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[3] C. J. Burges, 'From RankNet to LambdaRank to LambdaMART: An Overview,' Microsoft Research Technical Report, MSR-TR-2010-82, 2010.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[4] B. H. Bloom, 'Space/Time Trade-offs in Hash Coding with Allowable Errors,' Communications of the ACM, vol. 13, no. 7, pp. 422-426, 1970.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[5] B. E. Strom et al., 'MITRE ATT&amp;CK: Design and Philosophy,' The MITRE Corporation, Technical Report, 2020.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[6] Neo4j Graph Database Architecture &amp; Cypher Query Optimization Manual, Neo4j Inc., 2024.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[7] H. Chase et al., 'LangChain &amp; LangGraph: Multi-Agent Cyclic Graphs for LLMs,' LangChain Research, 2024.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[8] NIST Special Publication 800-61 Rev. 2, 'Computer Security Incident Handling Guide,' NIST, 2012.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846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Standards &amp; Framework References (9-15)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57400"/>
            <a:ext cx="480060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[9] ISO/IEC 27035-1:2023, 'Information technology — Information security incident management,' ISO/IEC, 2023.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[10] CISA, 'Cybersecurity Incident and Vulnerability Response Playbooks,' Cybersecurity and Infrastructure Security Agency, 2021.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[11] Splunk Inc., 'Security Information and Event Management (SIEM) Architecture &amp; Best Practices,' Splunk Core Docs, 2023.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[12] J. Kreps, N. Narkhede, and J. Rao, 'Kafka: A Distributed Messaging System for Log Processing,' NetDB, 2011.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[13] F. Roth and T. Patzke, 'Sigma: Generic Signature Format for SIEM Systems,' Sigma-HQ, 2024.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[14] Zeek Project, 'Zeek Network Security Monitor: Architecture and Scripting,' The Zeek Project, 2024.</a:t>
            </a:r>
          </a:p>
          <a:p>
            <a:pPr>
              <a:spcAft>
                <a:spcPts val="450"/>
              </a:spcAft>
              <a:defRPr sz="919"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[15] United Nations, 'The Sustainable Development Goals Report 2023,' United Nations Department of Economic and Social Affairs, 2023.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DD4B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000">
                <a:solidFill>
                  <a:srgbClr val="F8FAFC"/>
                </a:solidFill>
                <a:latin typeface="Calibri"/>
              </a:defRPr>
            </a:pPr>
            <a:r>
              <a:t>Questions, Feedback &amp; Live Project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91840"/>
            <a:ext cx="8534095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9968" y="3456432"/>
            <a:ext cx="81317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AiSOC PROJECT REPOSITORY &amp; DEMONSTRATION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840480"/>
            <a:ext cx="7955279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Project Monorepo: </a:t>
            </a:r>
            <a:r>
              <a:rPr b="0">
                <a:solidFill>
                  <a:srgbClr val="F8FAFC"/>
                </a:solidFill>
              </a:rPr>
              <a:t>https://github.com/aisoc/aisoc  (Open Source MIT License)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Live Interactive Demo: </a:t>
            </a:r>
            <a:r>
              <a:rPr b="0">
                <a:solidFill>
                  <a:srgbClr val="F8FAFC"/>
                </a:solidFill>
              </a:rPr>
              <a:t>tryaisoc.com/dashboard  (Active Multi-Tenant Web Console)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Instant Cold-Start Demo: </a:t>
            </a:r>
            <a:r>
              <a:rPr b="0">
                <a:solidFill>
                  <a:srgbClr val="F8FAFC"/>
                </a:solidFill>
              </a:rPr>
              <a:t>pip install aisoc-sandbox &amp;&amp; aisoc-sandbox demo  (&lt;30 seconds offline)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Team Contact: </a:t>
            </a:r>
            <a:r>
              <a:rPr b="0">
                <a:solidFill>
                  <a:srgbClr val="F8FAFC"/>
                </a:solidFill>
              </a:rPr>
              <a:t>Yashvinthan M (231061101162) | Tharun Kumar D (231061101150)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Team Contact: </a:t>
            </a:r>
            <a:r>
              <a:rPr b="0">
                <a:solidFill>
                  <a:srgbClr val="F8FAFC"/>
                </a:solidFill>
              </a:rPr>
              <a:t>Sanjeev V (231061101140) | Srinithi J S (231061101149)</a:t>
            </a:r>
          </a:p>
          <a:p>
            <a:pPr>
              <a:spcAft>
                <a:spcPts val="4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Department: </a:t>
            </a:r>
            <a:r>
              <a:rPr b="0">
                <a:solidFill>
                  <a:srgbClr val="F8FAFC"/>
                </a:solidFill>
              </a:rPr>
              <a:t>Department of Computer Science and Engineering, Faculty of Engineering &amp;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