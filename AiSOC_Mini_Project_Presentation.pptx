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686800" y="411480"/>
            <a:ext cx="274320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r_mg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3960" y="475488"/>
            <a:ext cx="2468880" cy="6492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029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DD4BF"/>
                </a:solidFill>
                <a:latin typeface="Calibri"/>
              </a:defRPr>
            </a:pPr>
            <a:r>
              <a:t>BACHELOR OF TECHNOLOGY | MINI PROJECT PRESENTATION &amp; VIVA VOCE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430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Calibri"/>
              </a:defRPr>
            </a:pPr>
            <a:r>
              <a:t>AiSOC: Autonomous AI-Powered Security Operations Center</a:t>
            </a:r>
          </a:p>
          <a:p>
            <a:pPr>
              <a:spcBef>
                <a:spcPts val="600"/>
              </a:spcBef>
              <a:defRPr sz="1350">
                <a:solidFill>
                  <a:srgbClr val="38BDF8"/>
                </a:solidFill>
                <a:latin typeface="Calibri"/>
              </a:defRPr>
            </a:pPr>
            <a:r>
              <a:t>Automated Threat Detection, Intelligent Machine Learning Triage, and Instant Incident Response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43200"/>
            <a:ext cx="5212080" cy="356616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907792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38BDF8"/>
                </a:solidFill>
                <a:latin typeface="Calibri"/>
              </a:defRPr>
            </a:pPr>
            <a:r>
              <a:t>PROJECT TEAM MEMBERS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291840"/>
            <a:ext cx="4800600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2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Yashvinthan M: </a:t>
            </a:r>
            <a:r>
              <a:rPr b="0">
                <a:solidFill>
                  <a:srgbClr val="F8FAFC"/>
                </a:solidFill>
              </a:rPr>
              <a:t>231061101162  (Lead AI Architecture &amp; Backend)</a:t>
            </a:r>
          </a:p>
          <a:p>
            <a:pPr>
              <a:spcAft>
                <a:spcPts val="1000"/>
              </a:spcAft>
              <a:defRPr sz="12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Tharun Kumar D: </a:t>
            </a:r>
            <a:r>
              <a:rPr b="0">
                <a:solidFill>
                  <a:srgbClr val="F8FAFC"/>
                </a:solidFill>
              </a:rPr>
              <a:t>231061101150  (Machine Learning Triage &amp; Detection)</a:t>
            </a:r>
          </a:p>
          <a:p>
            <a:pPr>
              <a:spcAft>
                <a:spcPts val="1000"/>
              </a:spcAft>
              <a:defRPr sz="12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Sanjeev V: </a:t>
            </a:r>
            <a:r>
              <a:rPr b="0">
                <a:solidFill>
                  <a:srgbClr val="F8FAFC"/>
                </a:solidFill>
              </a:rPr>
              <a:t>231061101140  (Log Ingestion &amp; Cloud Connectors)</a:t>
            </a:r>
          </a:p>
          <a:p>
            <a:pPr>
              <a:spcAft>
                <a:spcPts val="1000"/>
              </a:spcAft>
              <a:defRPr sz="12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Srinithi J S: </a:t>
            </a:r>
            <a:r>
              <a:rPr b="0">
                <a:solidFill>
                  <a:srgbClr val="F8FAFC"/>
                </a:solidFill>
              </a:rPr>
              <a:t>231061101149  (Analyst Dashboard &amp; Response Studio)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" y="5349240"/>
            <a:ext cx="4800600" cy="77724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sz="1050" b="1">
                <a:solidFill>
                  <a:srgbClr val="38BDF8"/>
                </a:solidFill>
                <a:latin typeface="Calibri"/>
              </a:defRPr>
            </a:pPr>
            <a:r>
              <a:t>Team: 4-Member Collaborative Engineering Group</a:t>
            </a:r>
          </a:p>
          <a:p>
            <a:pPr algn="ctr">
              <a:spcBef>
                <a:spcPts val="200"/>
              </a:spcBef>
              <a:defRPr sz="950" b="0">
                <a:solidFill>
                  <a:srgbClr val="F8FAFC"/>
                </a:solidFill>
                <a:latin typeface="Calibri"/>
              </a:defRPr>
            </a:pPr>
            <a:r>
              <a:t>Tech Stack: Python FastAPI | Next.js 14 | Neo4j | Kafka | ML Models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743200"/>
            <a:ext cx="5212080" cy="356616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9088" y="2907792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2DD4BF"/>
                </a:solidFill>
                <a:latin typeface="Calibri"/>
              </a:defRPr>
            </a:pPr>
            <a:r>
              <a:t>DEPARTMENT &amp; ACADEMIC DETAILS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3291840"/>
            <a:ext cx="4800600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Department: </a:t>
            </a:r>
            <a:r>
              <a:rPr b="0">
                <a:solidFill>
                  <a:srgbClr val="F8FAFC"/>
                </a:solidFill>
              </a:rPr>
              <a:t>Department of Computer Science and Engineering</a:t>
            </a:r>
          </a:p>
          <a:p>
            <a:pPr>
              <a:spcAft>
                <a:spcPts val="800"/>
              </a:spcAft>
              <a:defRPr sz="12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Institution: </a:t>
            </a:r>
            <a:r>
              <a:rPr b="0">
                <a:solidFill>
                  <a:srgbClr val="F8FAFC"/>
                </a:solidFill>
              </a:rPr>
              <a:t>Faculty of Engineering &amp; Technology</a:t>
            </a:r>
          </a:p>
          <a:p>
            <a:pPr>
              <a:spcAft>
                <a:spcPts val="800"/>
              </a:spcAft>
              <a:defRPr sz="12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Academic Year: </a:t>
            </a:r>
            <a:r>
              <a:rPr b="0">
                <a:solidFill>
                  <a:srgbClr val="F8FAFC"/>
                </a:solidFill>
              </a:rPr>
              <a:t>2025-2026 (July 2026 Examination)</a:t>
            </a:r>
          </a:p>
          <a:p>
            <a:pPr>
              <a:spcAft>
                <a:spcPts val="800"/>
              </a:spcAft>
              <a:defRPr sz="12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Project Domain: </a:t>
            </a:r>
            <a:r>
              <a:rPr b="0">
                <a:solidFill>
                  <a:srgbClr val="F8FAFC"/>
                </a:solidFill>
              </a:rPr>
              <a:t>Artificial Intelligence &amp; Cybersecurity Operations</a:t>
            </a:r>
          </a:p>
          <a:p>
            <a:pPr>
              <a:spcAft>
                <a:spcPts val="800"/>
              </a:spcAft>
              <a:defRPr sz="12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Hardware Testbed: </a:t>
            </a:r>
            <a:r>
              <a:rPr b="0">
                <a:solidFill>
                  <a:srgbClr val="F8FAFC"/>
                </a:solidFill>
              </a:rPr>
              <a:t>Cisco Catalyst Switch &amp; Proxmox Server Cluster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19088" y="5349240"/>
            <a:ext cx="4800600" cy="77724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 w="1524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sz="1050" b="1">
                <a:solidFill>
                  <a:srgbClr val="2DD4BF"/>
                </a:solidFill>
                <a:latin typeface="Calibri"/>
              </a:defRPr>
            </a:pPr>
            <a:r>
              <a:t>Degree Evaluation: B.Tech Mini Project Viva Defense</a:t>
            </a:r>
          </a:p>
          <a:p>
            <a:pPr algn="ctr">
              <a:spcBef>
                <a:spcPts val="200"/>
              </a:spcBef>
              <a:defRPr sz="950" b="0">
                <a:solidFill>
                  <a:srgbClr val="F8FAFC"/>
                </a:solidFill>
                <a:latin typeface="Calibri"/>
              </a:defRPr>
            </a:pPr>
            <a:r>
              <a:t>Dr. M.G.R. Educational and Research Institute (Deemed to be University)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2DD4BF"/>
                </a:solidFill>
                <a:latin typeface="Calibri"/>
              </a:defRPr>
            </a:pPr>
            <a:r>
              <a:t>SECTION 2 | 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Calibri"/>
              </a:defRPr>
            </a:pPr>
            <a:r>
              <a:t>Abstract: Autonomous Security Operations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High-level overview of the problem, AI methodology, and validated results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2468880" cy="411480"/>
          </a:xfrm>
          <a:prstGeom prst="roundRect">
            <a:avLst>
              <a:gd name="adj" fmla="val 8000"/>
            </a:avLst>
          </a:prstGeom>
          <a:solidFill>
            <a:srgbClr val="334155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4ADE80"/>
                </a:solidFill>
                <a:latin typeface="Calibri"/>
              </a:defRPr>
            </a:pPr>
            <a:r>
              <a:t>89.4% Noise Filtered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371600"/>
            <a:ext cx="2468880" cy="411480"/>
          </a:xfrm>
          <a:prstGeom prst="roundRect">
            <a:avLst>
              <a:gd name="adj" fmla="val 8000"/>
            </a:avLst>
          </a:prstGeom>
          <a:solidFill>
            <a:srgbClr val="334155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2DD4BF"/>
                </a:solidFill>
                <a:latin typeface="Calibri"/>
              </a:defRPr>
            </a:pPr>
            <a:r>
              <a:t>3.8 min Response 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2468880" cy="411480"/>
          </a:xfrm>
          <a:prstGeom prst="roundRect">
            <a:avLst>
              <a:gd name="adj" fmla="val 8000"/>
            </a:avLst>
          </a:prstGeom>
          <a:solidFill>
            <a:srgbClr val="334155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38BDF8"/>
                </a:solidFill>
                <a:latin typeface="Calibri"/>
              </a:defRPr>
            </a:pPr>
            <a:r>
              <a:t>16+ Data Connectors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1371600"/>
            <a:ext cx="2468880" cy="411480"/>
          </a:xfrm>
          <a:prstGeom prst="roundRect">
            <a:avLst>
              <a:gd name="adj" fmla="val 8000"/>
            </a:avLst>
          </a:prstGeom>
          <a:solidFill>
            <a:srgbClr val="334155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BBF24"/>
                </a:solidFill>
                <a:latin typeface="Calibri"/>
              </a:defRPr>
            </a:pPr>
            <a:r>
              <a:t>100% Safe Gated Actions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920240"/>
            <a:ext cx="10698480" cy="457200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084832"/>
            <a:ext cx="102961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2DD4BF"/>
                </a:solidFill>
                <a:latin typeface="Calibri"/>
              </a:defRPr>
            </a:pPr>
            <a:r>
              <a:t>Project Summary in Simple Terms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423160"/>
            <a:ext cx="1028700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20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The Challenge: </a:t>
            </a:r>
            <a:r>
              <a:rPr b="0">
                <a:solidFill>
                  <a:srgbClr val="F8FAFC"/>
                </a:solidFill>
              </a:rPr>
              <a:t>Modern companies receive millions of security logs every day. Human analysts face alert fatigue because over 83% of alerts are harmless false alarms, leading to dangerous delays in catching real attacks.</a:t>
            </a:r>
          </a:p>
          <a:p>
            <a:pPr>
              <a:spcAft>
                <a:spcPts val="1000"/>
              </a:spcAft>
              <a:defRPr sz="120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Our Solution: </a:t>
            </a:r>
            <a:r>
              <a:rPr b="0">
                <a:solidFill>
                  <a:srgbClr val="F8FAFC"/>
                </a:solidFill>
              </a:rPr>
              <a:t>We built AiSOC, an open-source autonomous security platform that replaces slow manual triage with four smart AI agents working together (Detect, Triage, Hunt, Respond).</a:t>
            </a:r>
          </a:p>
          <a:p>
            <a:pPr>
              <a:spcAft>
                <a:spcPts val="1000"/>
              </a:spcAft>
              <a:defRPr sz="120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How It Works: </a:t>
            </a:r>
            <a:r>
              <a:rPr b="0">
                <a:solidFill>
                  <a:srgbClr val="F8FAFC"/>
                </a:solidFill>
              </a:rPr>
              <a:t>AiSOC standardizes logs from 16+ tools, uses machine learning to instantly filter noise, and maps connected attack steps inside a real-time visual knowledge graph.</a:t>
            </a:r>
          </a:p>
          <a:p>
            <a:pPr>
              <a:spcAft>
                <a:spcPts val="1000"/>
              </a:spcAft>
              <a:defRPr sz="120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Safety Built-In: </a:t>
            </a:r>
            <a:r>
              <a:rPr b="0">
                <a:solidFill>
                  <a:srgbClr val="F8FAFC"/>
                </a:solidFill>
              </a:rPr>
              <a:t>To prevent accidental outages, all high-impact response actions (like isolating a server) are checked with safety rules and require human confirmation.</a:t>
            </a:r>
          </a:p>
          <a:p>
            <a:pPr>
              <a:spcAft>
                <a:spcPts val="1000"/>
              </a:spcAft>
              <a:defRPr sz="120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Proven Results: </a:t>
            </a:r>
            <a:r>
              <a:rPr b="0">
                <a:solidFill>
                  <a:srgbClr val="F8FAFC"/>
                </a:solidFill>
              </a:rPr>
              <a:t>Tested on 200 real attack scenarios, AiSOC filters 89.4% of false alarms, reduces incident response time from 103 hours down to 3.8 minutes, and achieves 96.4% accuracy.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" y="5760720"/>
            <a:ext cx="10287000" cy="54864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 w="1524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sz="1050" b="1">
                <a:solidFill>
                  <a:srgbClr val="2DD4BF"/>
                </a:solidFill>
                <a:latin typeface="Calibri"/>
              </a:defRPr>
            </a:pPr>
            <a:r>
              <a:t>Key Takeaway: An intelligent, safe, and open-source platform that cuts incident response time by 99%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2DD4BF"/>
                </a:solidFill>
                <a:latin typeface="Calibri"/>
              </a:defRPr>
            </a:pPr>
            <a:r>
              <a:t>SECTION 3 | ROOT CAUSE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Calibri"/>
              </a:defRPr>
            </a:pPr>
            <a:r>
              <a:t>Problem Statement: Key Failures in Traditional Security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Four critical problems that make traditional security teams slow and overwhelmed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237744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627632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43F5E"/>
                </a:solidFill>
                <a:latin typeface="Calibri"/>
              </a:defRPr>
            </a:pPr>
            <a:r>
              <a:t>1. Alert Fatigue &amp; False Alarms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029968"/>
            <a:ext cx="4809744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Too Many Alerts: </a:t>
            </a:r>
            <a:r>
              <a:rPr b="0">
                <a:solidFill>
                  <a:srgbClr val="F8FAFC"/>
                </a:solidFill>
              </a:rPr>
              <a:t>Security teams get 500+ alerts daily; over 83% are harmless noise.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Burnout &amp; Missed Threats: </a:t>
            </a:r>
            <a:r>
              <a:rPr b="0">
                <a:solidFill>
                  <a:srgbClr val="F8FAFC"/>
                </a:solidFill>
              </a:rPr>
              <a:t>Analysts get exhausted doing repetitive checks, causing real attacks to be missed.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Slow Manual Checks: </a:t>
            </a:r>
            <a:r>
              <a:rPr b="0">
                <a:solidFill>
                  <a:srgbClr val="F8FAFC"/>
                </a:solidFill>
              </a:rPr>
              <a:t>Looking up every IP address and file hash manually takes 10-15 minutes per alert.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237744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9088" y="1627632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BBF24"/>
                </a:solidFill>
                <a:latin typeface="Calibri"/>
              </a:defRPr>
            </a:pPr>
            <a:r>
              <a:t>2. Disconnected Tools &amp; Log Silos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9088" y="2029968"/>
            <a:ext cx="4809744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Incompatible Formats: </a:t>
            </a:r>
            <a:r>
              <a:rPr b="0">
                <a:solidFill>
                  <a:srgbClr val="F8FAFC"/>
                </a:solidFill>
              </a:rPr>
              <a:t>AWS, Firewalls, and Windows logs all use completely different formats.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No Big Picture: </a:t>
            </a:r>
            <a:r>
              <a:rPr b="0">
                <a:solidFill>
                  <a:srgbClr val="F8FAFC"/>
                </a:solidFill>
              </a:rPr>
              <a:t>Traditional tools look at alerts individually and cannot connect multi-step attacks.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Blind Spots: </a:t>
            </a:r>
            <a:r>
              <a:rPr b="0">
                <a:solidFill>
                  <a:srgbClr val="F8FAFC"/>
                </a:solidFill>
              </a:rPr>
              <a:t>Attackers move quietly between cloud and office computers without being linked.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77639"/>
            <a:ext cx="5212080" cy="237744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4142231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38BDF8"/>
                </a:solidFill>
                <a:latin typeface="Calibri"/>
              </a:defRPr>
            </a:pPr>
            <a:r>
              <a:t>3. Slow Escalations &amp; Long Delays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544567"/>
            <a:ext cx="4809744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Passing the Ticket: </a:t>
            </a:r>
            <a:r>
              <a:rPr b="0">
                <a:solidFill>
                  <a:srgbClr val="F8FAFC"/>
                </a:solidFill>
              </a:rPr>
              <a:t>Passing alerts between Tier-1, Tier-2, and Tier-3 teams causes 4 to 24 hours of delay.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Attacker Dwell Time: </a:t>
            </a:r>
            <a:r>
              <a:rPr b="0">
                <a:solidFill>
                  <a:srgbClr val="F8FAFC"/>
                </a:solidFill>
              </a:rPr>
              <a:t>Hackers stay hidden in corporate networks for an average of 4.3 days (103 hours).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Inconsistent Steps: </a:t>
            </a:r>
            <a:r>
              <a:rPr b="0">
                <a:solidFill>
                  <a:srgbClr val="F8FAFC"/>
                </a:solidFill>
              </a:rPr>
              <a:t>Different analysts handle the same security incident in completely different ways.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77639"/>
            <a:ext cx="5212080" cy="237744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4142231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43F5E"/>
                </a:solidFill>
                <a:latin typeface="Calibri"/>
              </a:defRPr>
            </a:pPr>
            <a:r>
              <a:t>4. Dangerous Actions &amp; High Costs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4544567"/>
            <a:ext cx="4809744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Accidental Outages: </a:t>
            </a:r>
            <a:r>
              <a:rPr b="0">
                <a:solidFill>
                  <a:srgbClr val="F8FAFC"/>
                </a:solidFill>
              </a:rPr>
              <a:t>Rushing to block a computer can accidentally shut down critical business servers.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Expensive Software: </a:t>
            </a:r>
            <a:r>
              <a:rPr b="0">
                <a:solidFill>
                  <a:srgbClr val="F8FAFC"/>
                </a:solidFill>
              </a:rPr>
              <a:t>Commercial security software costs millions of dollars in annual licensing fees.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No Privacy Control: </a:t>
            </a:r>
            <a:r>
              <a:rPr b="0">
                <a:solidFill>
                  <a:srgbClr val="F8FAFC"/>
                </a:solidFill>
              </a:rPr>
              <a:t>Cloud-only AI tools cannot run in secure banks, defense, or offline networks.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2DD4BF"/>
                </a:solidFill>
                <a:latin typeface="Calibri"/>
              </a:defRPr>
            </a:pPr>
            <a:r>
              <a:t>SECTION 4 | PROJECT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Calibri"/>
              </a:defRPr>
            </a:pPr>
            <a:r>
              <a:t>Primary Objectives of the AiSOC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Four clear, measurable technical goals achieved in this project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237744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627632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38BDF8"/>
                </a:solidFill>
                <a:latin typeface="Calibri"/>
              </a:defRPr>
            </a:pPr>
            <a:r>
              <a:t>Objective 1: Universal Log Ingestion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029968"/>
            <a:ext cx="4809744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Connect 16+ Data Sources: </a:t>
            </a:r>
            <a:r>
              <a:rPr b="0">
                <a:solidFill>
                  <a:srgbClr val="F8FAFC"/>
                </a:solidFill>
              </a:rPr>
              <a:t>Ingest security logs from AWS, Okta, CrowdStrike, and firewalls seamlessly.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High Speed Pipeline: </a:t>
            </a:r>
            <a:r>
              <a:rPr b="0">
                <a:solidFill>
                  <a:srgbClr val="F8FAFC"/>
                </a:solidFill>
              </a:rPr>
              <a:t>Process over 10,000 logs every second with zero data loss using Apache Kafka.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Standard Data Format: </a:t>
            </a:r>
            <a:r>
              <a:rPr b="0">
                <a:solidFill>
                  <a:srgbClr val="F8FAFC"/>
                </a:solidFill>
              </a:rPr>
              <a:t>Convert all vendor logs into one universal cybersecurity standard (OCSF).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237744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9088" y="1627632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2DD4BF"/>
                </a:solidFill>
                <a:latin typeface="Calibri"/>
              </a:defRPr>
            </a:pPr>
            <a:r>
              <a:t>Objective 2: Smart ML Noise Filtering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9088" y="2029968"/>
            <a:ext cx="4809744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Filter 85%+ False Alarms: </a:t>
            </a:r>
            <a:r>
              <a:rPr b="0">
                <a:solidFill>
                  <a:srgbClr val="F8FAFC"/>
                </a:solidFill>
              </a:rPr>
              <a:t>Use AI anomaly detection to automatically discard routine background noise.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Instant Threat Lookup: </a:t>
            </a:r>
            <a:r>
              <a:rPr b="0">
                <a:solidFill>
                  <a:srgbClr val="F8FAFC"/>
                </a:solidFill>
              </a:rPr>
              <a:t>Match known hacker IPs and malicious files in less than 1 millisecond.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Priority Ranking: </a:t>
            </a:r>
            <a:r>
              <a:rPr b="0">
                <a:solidFill>
                  <a:srgbClr val="F8FAFC"/>
                </a:solidFill>
              </a:rPr>
              <a:t>Rank remaining alerts from 0 to 100 so analysts focus on the most dangerous threats first.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77639"/>
            <a:ext cx="5212080" cy="237744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4142231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BBF24"/>
                </a:solidFill>
                <a:latin typeface="Calibri"/>
              </a:defRPr>
            </a:pPr>
            <a:r>
              <a:t>Objective 3: Real-Time Attack Graph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544567"/>
            <a:ext cx="4809744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Visual Attack Map: </a:t>
            </a:r>
            <a:r>
              <a:rPr b="0">
                <a:solidFill>
                  <a:srgbClr val="F8FAFC"/>
                </a:solidFill>
              </a:rPr>
              <a:t>Build a live connected graph showing users, computers, files, and network traffic.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Trace Lateral Movement: </a:t>
            </a:r>
            <a:r>
              <a:rPr b="0">
                <a:solidFill>
                  <a:srgbClr val="F8FAFC"/>
                </a:solidFill>
              </a:rPr>
              <a:t>Automatically trace how an attacker moved from patient-zero to the domain admin.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Plain English Search: </a:t>
            </a:r>
            <a:r>
              <a:rPr b="0">
                <a:solidFill>
                  <a:srgbClr val="F8FAFC"/>
                </a:solidFill>
              </a:rPr>
              <a:t>Let analysts search for threats by typing questions in plain English.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77639"/>
            <a:ext cx="5212080" cy="237744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4142231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43F5E"/>
                </a:solidFill>
                <a:latin typeface="Calibri"/>
              </a:defRPr>
            </a:pPr>
            <a:r>
              <a:t>Objective 4: Safe &amp; Instant Response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4544567"/>
            <a:ext cx="4809744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Sub-5-Minute Response: </a:t>
            </a:r>
            <a:r>
              <a:rPr b="0">
                <a:solidFill>
                  <a:srgbClr val="F8FAFC"/>
                </a:solidFill>
              </a:rPr>
              <a:t>Reduce total incident containment time from days to under 4 minutes.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Safety Guardrails: </a:t>
            </a:r>
            <a:r>
              <a:rPr b="0">
                <a:solidFill>
                  <a:srgbClr val="F8FAFC"/>
                </a:solidFill>
              </a:rPr>
              <a:t>Enforce approval checks so critical servers are never shut down by accident.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Tamper-Proof Audit: </a:t>
            </a:r>
            <a:r>
              <a:rPr b="0">
                <a:solidFill>
                  <a:srgbClr val="F8FAFC"/>
                </a:solidFill>
              </a:rPr>
              <a:t>Record every action taken in a secure cryptographic ledger for forensic review.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2DD4BF"/>
                </a:solidFill>
                <a:latin typeface="Calibri"/>
              </a:defRPr>
            </a:pPr>
            <a:r>
              <a:t>SECTION 5 | BACKGROUND &amp;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Calibri"/>
              </a:defRPr>
            </a:pPr>
            <a:r>
              <a:t>Introduction: The Need for Autonomous AI in Cybersecurity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Why traditional methods fail against modern cyber attacks and how AI changes the 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383280" cy="493776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627632"/>
            <a:ext cx="29809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43F5E"/>
                </a:solidFill>
                <a:latin typeface="Calibri"/>
              </a:defRPr>
            </a:pPr>
            <a:r>
              <a:t>Modern Cyber Attacks Move Fast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011680"/>
            <a:ext cx="2971800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Automated Attackers: </a:t>
            </a:r>
            <a:r>
              <a:rPr b="0">
                <a:solidFill>
                  <a:srgbClr val="F8FAFC"/>
                </a:solidFill>
              </a:rPr>
              <a:t>Hackers use automated scripts to scan and exploit systems in seconds.</a:t>
            </a:r>
          </a:p>
          <a:p>
            <a:pPr>
              <a:spcAft>
                <a:spcPts val="10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Fast Ransomware: </a:t>
            </a:r>
            <a:r>
              <a:rPr b="0">
                <a:solidFill>
                  <a:srgbClr val="F8FAFC"/>
                </a:solidFill>
              </a:rPr>
              <a:t>Modern ransomware begins locking files within 45 minutes of entering a network.</a:t>
            </a:r>
          </a:p>
          <a:p>
            <a:pPr>
              <a:spcAft>
                <a:spcPts val="10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Multi-Stage Breaches: </a:t>
            </a:r>
            <a:r>
              <a:rPr b="0">
                <a:solidFill>
                  <a:srgbClr val="F8FAFC"/>
                </a:solidFill>
              </a:rPr>
              <a:t>Attackers steal user logins, jump across computers, and target central servers.</a:t>
            </a:r>
          </a:p>
          <a:p>
            <a:pPr>
              <a:spcAft>
                <a:spcPts val="10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Humans Cannot Keep Up: </a:t>
            </a:r>
            <a:r>
              <a:rPr b="0">
                <a:solidFill>
                  <a:srgbClr val="F8FAFC"/>
                </a:solidFill>
              </a:rPr>
              <a:t>Human analysts cannot manually read millions of logs fast enough to stop active breaches.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" y="5349240"/>
            <a:ext cx="2971800" cy="86868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 w="1524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sz="1050" b="1">
                <a:solidFill>
                  <a:srgbClr val="F43F5E"/>
                </a:solidFill>
                <a:latin typeface="Calibri"/>
              </a:defRPr>
            </a:pPr>
            <a:r>
              <a:t>Speed Reality: &lt;45min Ransomware</a:t>
            </a:r>
          </a:p>
          <a:p>
            <a:pPr algn="ctr">
              <a:spcBef>
                <a:spcPts val="200"/>
              </a:spcBef>
              <a:defRPr sz="950" b="0">
                <a:solidFill>
                  <a:srgbClr val="F8FAFC"/>
                </a:solidFill>
                <a:latin typeface="Calibri"/>
              </a:defRPr>
            </a:pPr>
            <a:r>
              <a:t>Requires Sub-Second Automated Defense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463040"/>
            <a:ext cx="3383280" cy="493776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1627632"/>
            <a:ext cx="29809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38BDF8"/>
                </a:solidFill>
                <a:latin typeface="Calibri"/>
              </a:defRPr>
            </a:pPr>
            <a:r>
              <a:t>Why Multi-Agent AI?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011680"/>
            <a:ext cx="2971800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Specialized Roles: </a:t>
            </a:r>
            <a:r>
              <a:rPr b="0">
                <a:solidFill>
                  <a:srgbClr val="F8FAFC"/>
                </a:solidFill>
              </a:rPr>
              <a:t>Instead of one generic chatbot, AiSOC uses 4 specialized AI agents working as a team.</a:t>
            </a:r>
          </a:p>
          <a:p>
            <a:pPr>
              <a:spcAft>
                <a:spcPts val="10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Step-by-Step Logic: </a:t>
            </a:r>
            <a:r>
              <a:rPr b="0">
                <a:solidFill>
                  <a:srgbClr val="F8FAFC"/>
                </a:solidFill>
              </a:rPr>
              <a:t>Each agent has a clear job: Ingest logs, filter noise, trace attack paths, and respond.</a:t>
            </a:r>
          </a:p>
          <a:p>
            <a:pPr>
              <a:spcAft>
                <a:spcPts val="10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No Guesswork: </a:t>
            </a:r>
            <a:r>
              <a:rPr b="0">
                <a:solidFill>
                  <a:srgbClr val="F8FAFC"/>
                </a:solidFill>
              </a:rPr>
              <a:t>Every decision is checked against strict rules and verified threat intelligence.</a:t>
            </a:r>
          </a:p>
          <a:p>
            <a:pPr>
              <a:spcAft>
                <a:spcPts val="10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Human Control: </a:t>
            </a:r>
            <a:r>
              <a:rPr b="0">
                <a:solidFill>
                  <a:srgbClr val="F8FAFC"/>
                </a:solidFill>
              </a:rPr>
              <a:t>AI handles repetitive tasks, while human experts approve high-risk actions.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90288" y="5349240"/>
            <a:ext cx="2971800" cy="86868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sz="1050" b="1">
                <a:solidFill>
                  <a:srgbClr val="38BDF8"/>
                </a:solidFill>
                <a:latin typeface="Calibri"/>
              </a:defRPr>
            </a:pPr>
            <a:r>
              <a:t>AI Design: 4 Coordinated Agents</a:t>
            </a:r>
          </a:p>
          <a:p>
            <a:pPr algn="ctr">
              <a:spcBef>
                <a:spcPts val="200"/>
              </a:spcBef>
              <a:defRPr sz="950" b="0">
                <a:solidFill>
                  <a:srgbClr val="F8FAFC"/>
                </a:solidFill>
                <a:latin typeface="Calibri"/>
              </a:defRPr>
            </a:pPr>
            <a:r>
              <a:t>Reliable Execution with Full Human Oversight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463040"/>
            <a:ext cx="3383280" cy="493776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1627632"/>
            <a:ext cx="29809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2DD4BF"/>
                </a:solidFill>
                <a:latin typeface="Calibri"/>
              </a:defRPr>
            </a:pPr>
            <a:r>
              <a:t>UN SDG Global Alignment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8" y="2011680"/>
            <a:ext cx="2971800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SDG 9: Resilient Infrastructure: </a:t>
            </a:r>
            <a:r>
              <a:rPr b="0">
                <a:solidFill>
                  <a:srgbClr val="F8FAFC"/>
                </a:solidFill>
              </a:rPr>
              <a:t>Protects digital enterprise systems from cyber attacks using open-source tools.</a:t>
            </a:r>
          </a:p>
          <a:p>
            <a:pPr>
              <a:spcAft>
                <a:spcPts val="10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SDG 16: Peace &amp; Justice: </a:t>
            </a:r>
            <a:r>
              <a:rPr b="0">
                <a:solidFill>
                  <a:srgbClr val="F8FAFC"/>
                </a:solidFill>
              </a:rPr>
              <a:t>Provides clear, tamper-proof audit trails to hold cybercriminals accountable.</a:t>
            </a:r>
          </a:p>
          <a:p>
            <a:pPr>
              <a:spcAft>
                <a:spcPts val="10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SDG 8: Decent Work: </a:t>
            </a:r>
            <a:r>
              <a:rPr b="0">
                <a:solidFill>
                  <a:srgbClr val="F8FAFC"/>
                </a:solidFill>
              </a:rPr>
              <a:t>Eliminates boring, repetitive night shifts and alert burnout for security workers.</a:t>
            </a:r>
          </a:p>
          <a:p>
            <a:pPr>
              <a:spcAft>
                <a:spcPts val="10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SDG 4: Quality Education: </a:t>
            </a:r>
            <a:r>
              <a:rPr b="0">
                <a:solidFill>
                  <a:srgbClr val="F8FAFC"/>
                </a:solidFill>
              </a:rPr>
              <a:t>Provides a free, lightweight training tool (aisoc-sandbox) for students to learn cybersecurity.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47888" y="5349240"/>
            <a:ext cx="2971800" cy="86868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 w="1524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sz="1050" b="1">
                <a:solidFill>
                  <a:srgbClr val="2DD4BF"/>
                </a:solidFill>
                <a:latin typeface="Calibri"/>
              </a:defRPr>
            </a:pPr>
            <a:r>
              <a:t>Global Goals: UN SDGs 4, 8, 9, 16</a:t>
            </a:r>
          </a:p>
          <a:p>
            <a:pPr algn="ctr">
              <a:spcBef>
                <a:spcPts val="200"/>
              </a:spcBef>
              <a:defRPr sz="950" b="0">
                <a:solidFill>
                  <a:srgbClr val="F8FAFC"/>
                </a:solidFill>
                <a:latin typeface="Calibri"/>
              </a:defRPr>
            </a:pPr>
            <a:r>
              <a:t>Open-Source Democratization of AI Defense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2DD4BF"/>
                </a:solidFill>
                <a:latin typeface="Calibri"/>
              </a:defRPr>
            </a:pPr>
            <a:r>
              <a:t>SECTION 6 | ACADEMIC &amp; INDUSTRIAL 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Calibri"/>
              </a:defRPr>
            </a:pPr>
            <a:r>
              <a:t>Literature Survey: How Existing Technologies 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Review of traditional SIEM, automation tools, machine learning, and knowledge graphs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237744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627632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38BDF8"/>
                </a:solidFill>
                <a:latin typeface="Calibri"/>
              </a:defRPr>
            </a:pPr>
            <a:r>
              <a:t>1. Traditional SIEM Log Systems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029968"/>
            <a:ext cx="4809744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Technologies: </a:t>
            </a:r>
            <a:r>
              <a:rPr b="0">
                <a:solidFill>
                  <a:srgbClr val="F8FAFC"/>
                </a:solidFill>
              </a:rPr>
              <a:t>Splunk, Microsoft Sentinel, IBM QRadar, Elastic SIEM.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How They Work: </a:t>
            </a:r>
            <a:r>
              <a:rPr b="0">
                <a:solidFill>
                  <a:srgbClr val="F8FAFC"/>
                </a:solidFill>
              </a:rPr>
              <a:t>Collect all company logs into one database and trigger alerts using basic keyword rules.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Key Limitation: </a:t>
            </a:r>
            <a:r>
              <a:rPr b="0">
                <a:solidFill>
                  <a:srgbClr val="F8FAFC"/>
                </a:solidFill>
              </a:rPr>
              <a:t>Generates over 80% false alarms and cannot connect attack steps across multiple servers.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237744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9088" y="1627632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2DD4BF"/>
                </a:solidFill>
                <a:latin typeface="Calibri"/>
              </a:defRPr>
            </a:pPr>
            <a:r>
              <a:t>2. Standard Automation (SOAR) Tools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9088" y="2029968"/>
            <a:ext cx="4809744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Technologies: </a:t>
            </a:r>
            <a:r>
              <a:rPr b="0">
                <a:solidFill>
                  <a:srgbClr val="F8FAFC"/>
                </a:solidFill>
              </a:rPr>
              <a:t>Palo Alto Cortex XSOAR, Splunk Phantom, Tines.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How They Work: </a:t>
            </a:r>
            <a:r>
              <a:rPr b="0">
                <a:solidFill>
                  <a:srgbClr val="F8FAFC"/>
                </a:solidFill>
              </a:rPr>
              <a:t>Run predefined scripts when an alert fires (e.g. send an email, block an IP).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Key Limitation: </a:t>
            </a:r>
            <a:r>
              <a:rPr b="0">
                <a:solidFill>
                  <a:srgbClr val="F8FAFC"/>
                </a:solidFill>
              </a:rPr>
              <a:t>Very brittle; if log formats change or a new attack appears, the automated scripts fail.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77639"/>
            <a:ext cx="5212080" cy="237744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4142231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BBF24"/>
                </a:solidFill>
                <a:latin typeface="Calibri"/>
              </a:defRPr>
            </a:pPr>
            <a:r>
              <a:t>3. Machine Learning Anomaly Detection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544567"/>
            <a:ext cx="4809744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Technologies: </a:t>
            </a:r>
            <a:r>
              <a:rPr b="0">
                <a:solidFill>
                  <a:srgbClr val="F8FAFC"/>
                </a:solidFill>
              </a:rPr>
              <a:t>Isolation Forests, Neural Networks, Supervised Ranking Models.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How They Work: </a:t>
            </a:r>
            <a:r>
              <a:rPr b="0">
                <a:solidFill>
                  <a:srgbClr val="F8FAFC"/>
                </a:solidFill>
              </a:rPr>
              <a:t>Learn normal employee activity and flag unusual behavior automatically.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Key Limitation: </a:t>
            </a:r>
            <a:r>
              <a:rPr b="0">
                <a:solidFill>
                  <a:srgbClr val="F8FAFC"/>
                </a:solidFill>
              </a:rPr>
              <a:t>Single ML models either let real attacks slip by or still produce too many false alarms.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77639"/>
            <a:ext cx="5212080" cy="237744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4142231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43F5E"/>
                </a:solidFill>
                <a:latin typeface="Calibri"/>
              </a:defRPr>
            </a:pPr>
            <a:r>
              <a:t>4. Knowledge Graphs &amp; AI LLMs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4544567"/>
            <a:ext cx="4809744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Technologies: </a:t>
            </a:r>
            <a:r>
              <a:rPr b="0">
                <a:solidFill>
                  <a:srgbClr val="F8FAFC"/>
                </a:solidFill>
              </a:rPr>
              <a:t>Neo4j Graph Database, LangChain Multi-Agent, MITRE ATT&amp;CK Matrix.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How They Work: </a:t>
            </a:r>
            <a:r>
              <a:rPr b="0">
                <a:solidFill>
                  <a:srgbClr val="F8FAFC"/>
                </a:solidFill>
              </a:rPr>
              <a:t>Map relationships between devices and use AI to understand incident context.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Key Limitation: </a:t>
            </a:r>
            <a:r>
              <a:rPr b="0">
                <a:solidFill>
                  <a:srgbClr val="F8FAFC"/>
                </a:solidFill>
              </a:rPr>
              <a:t>AI must have strict safety guardrails so it doesn't run dangerous commands by mistake.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2DD4BF"/>
                </a:solidFill>
                <a:latin typeface="Calibri"/>
              </a:defRPr>
            </a:pPr>
            <a:r>
              <a:t>SECTION 7 | RESEARCH GAP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Calibri"/>
              </a:defRPr>
            </a:pPr>
            <a:r>
              <a:t>Findings in Literature Survey: The 4 Critical Gaps We Solved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Visual problem-to-solution bridge showing how AiSOC overcomes each industry bottleneck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937760" cy="10515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50" b="1">
                <a:solidFill>
                  <a:srgbClr val="F43F5E"/>
                </a:solidFill>
                <a:latin typeface="Calibri"/>
              </a:defRPr>
            </a:pPr>
            <a:r>
              <a:t>Gap 1: Fragile Vendor Regex Parsers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Calibri"/>
              </a:defRPr>
            </a:pPr>
            <a:r>
              <a:t>Every vendor uses different log schemas, breaking automated SIEM rules.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806440" y="1828800"/>
            <a:ext cx="548640" cy="320040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0" y="1463040"/>
            <a:ext cx="4937760" cy="10515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50" b="1">
                <a:solidFill>
                  <a:srgbClr val="38BDF8"/>
                </a:solidFill>
                <a:latin typeface="Calibri"/>
              </a:defRPr>
            </a:pPr>
            <a:r>
              <a:t>AiSOC Solution: Universal OCSF Ingest Engine</a:t>
            </a:r>
          </a:p>
          <a:p>
            <a:pPr>
              <a:spcBef>
                <a:spcPts val="2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Standardizes 16+ data connectors into clean OCSF JSON at 10,000+ logs/sec.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97480"/>
            <a:ext cx="4937760" cy="10515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50" b="1">
                <a:solidFill>
                  <a:srgbClr val="FBBF24"/>
                </a:solidFill>
                <a:latin typeface="Calibri"/>
              </a:defRPr>
            </a:pPr>
            <a:r>
              <a:t>Gap 2: Slow Overnight Batch Graph Processing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Calibri"/>
              </a:defRPr>
            </a:pPr>
            <a:r>
              <a:t>Legacy systems build graph relationships in slow offline batch jobs.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806440" y="3063240"/>
            <a:ext cx="548640" cy="320040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92240" y="2697480"/>
            <a:ext cx="4937760" cy="10515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50" b="1">
                <a:solidFill>
                  <a:srgbClr val="2DD4BF"/>
                </a:solidFill>
                <a:latin typeface="Calibri"/>
              </a:defRPr>
            </a:pPr>
            <a:r>
              <a:t>AiSOC Solution: Real-Time Streaming Neo4j Graph</a:t>
            </a:r>
          </a:p>
          <a:p>
            <a:pPr>
              <a:spcBef>
                <a:spcPts val="2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Batched UNWIND transactions update 17 node types in real-time as logs arrive.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4937760" cy="10515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50" b="1">
                <a:solidFill>
                  <a:srgbClr val="F43F5E"/>
                </a:solidFill>
                <a:latin typeface="Calibri"/>
              </a:defRPr>
            </a:pPr>
            <a:r>
              <a:t>Gap 3: Single-Model Triage Blindspots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Calibri"/>
              </a:defRPr>
            </a:pPr>
            <a:r>
              <a:t>Standalone Isolation Forest or Neural Nets over-filter or under-filter.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806440" y="4297680"/>
            <a:ext cx="548640" cy="320040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92240" y="3931920"/>
            <a:ext cx="4937760" cy="10515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50" b="1">
                <a:solidFill>
                  <a:srgbClr val="FBBF24"/>
                </a:solidFill>
                <a:latin typeface="Calibri"/>
              </a:defRPr>
            </a:pPr>
            <a:r>
              <a:t>AiSOC Solution: Dual-Stage ML Triage Pipeline</a:t>
            </a:r>
          </a:p>
          <a:p>
            <a:pPr>
              <a:spcBef>
                <a:spcPts val="2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Stage 1 removes 89.4% false alarms + Stage 2 ranks true incident urgency 0-100.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166360"/>
            <a:ext cx="4937760" cy="10515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50" b="1">
                <a:solidFill>
                  <a:srgbClr val="FBBF24"/>
                </a:solidFill>
                <a:latin typeface="Calibri"/>
              </a:defRPr>
            </a:pPr>
            <a:r>
              <a:t>Gap 4: Dangerous LLM Bot Automation Risks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Calibri"/>
              </a:defRPr>
            </a:pPr>
            <a:r>
              <a:t>Uncontrolled bots risk shutting down domain controllers and web stores.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806440" y="5532120"/>
            <a:ext cx="548640" cy="320040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0" y="5166360"/>
            <a:ext cx="4937760" cy="10515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50" b="1">
                <a:solidFill>
                  <a:srgbClr val="4ADE80"/>
                </a:solidFill>
                <a:latin typeface="Calibri"/>
              </a:defRPr>
            </a:pPr>
            <a:r>
              <a:t>AiSOC Solution: Blast-Radius L0-L4 Safety Gating</a:t>
            </a:r>
          </a:p>
          <a:p>
            <a:pPr>
              <a:spcBef>
                <a:spcPts val="2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Evaluates asset criticality with mandatory human approval on high-risk actions.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2DD4BF"/>
                </a:solidFill>
                <a:latin typeface="Calibri"/>
              </a:defRPr>
            </a:pPr>
            <a:r>
              <a:t>SECTION 8 | BASELINE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Calibri"/>
              </a:defRPr>
            </a:pPr>
            <a:r>
              <a:t>Existing Methodology: The Traditional Manual SOC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Visual flowchart showing how legacy 3-tier security teams process security alerts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2468880" cy="201168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8FAFC"/>
                </a:solidFill>
                <a:latin typeface="Calibri"/>
              </a:defRPr>
            </a:pPr>
            <a:r>
              <a:t>1. Unsorted Logs</a:t>
            </a:r>
            <a:br/>
            <a:r>
              <a:t>(Firewalls, AWS, EDR)</a:t>
            </a:r>
            <a:br/>
            <a:r>
              <a:t>10M+ Daily Events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3063240"/>
            <a:ext cx="2011680" cy="320040"/>
          </a:xfrm>
          <a:prstGeom prst="roundRect">
            <a:avLst>
              <a:gd name="adj" fmla="val 8000"/>
            </a:avLst>
          </a:prstGeom>
          <a:solidFill>
            <a:srgbClr val="334155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43F5E"/>
                </a:solidFill>
                <a:latin typeface="Calibri"/>
              </a:defRPr>
            </a:pPr>
            <a:r>
              <a:t>Messy Formats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463040"/>
            <a:ext cx="2468880" cy="201168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8FAFC"/>
                </a:solidFill>
                <a:latin typeface="Calibri"/>
              </a:defRPr>
            </a:pPr>
            <a:r>
              <a:t>2. Basic SIEM Rules</a:t>
            </a:r>
            <a:br/>
            <a:r>
              <a:t>(Keyword Matches)</a:t>
            </a:r>
            <a:br/>
            <a:r>
              <a:t>83% False Alarms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03320" y="3063240"/>
            <a:ext cx="2011680" cy="320040"/>
          </a:xfrm>
          <a:prstGeom prst="roundRect">
            <a:avLst>
              <a:gd name="adj" fmla="val 8000"/>
            </a:avLst>
          </a:prstGeom>
          <a:solidFill>
            <a:srgbClr val="334155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BBF24"/>
                </a:solidFill>
                <a:latin typeface="Calibri"/>
              </a:defRPr>
            </a:pPr>
            <a:r>
              <a:t>High Noise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2468880" cy="201168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8FAFC"/>
                </a:solidFill>
                <a:latin typeface="Calibri"/>
              </a:defRPr>
            </a:pPr>
            <a:r>
              <a:t>3. Manual Triage</a:t>
            </a:r>
            <a:br/>
            <a:r>
              <a:t>(Copy-Paste Checks)</a:t>
            </a:r>
            <a:br/>
            <a:r>
              <a:t>4 - 8 Hours Delay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46520" y="3063240"/>
            <a:ext cx="2011680" cy="320040"/>
          </a:xfrm>
          <a:prstGeom prst="roundRect">
            <a:avLst>
              <a:gd name="adj" fmla="val 8000"/>
            </a:avLst>
          </a:prstGeom>
          <a:solidFill>
            <a:srgbClr val="334155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38BDF8"/>
                </a:solidFill>
                <a:latin typeface="Calibri"/>
              </a:defRPr>
            </a:pPr>
            <a:r>
              <a:t>Analyst Fatigue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1463040"/>
            <a:ext cx="2468880" cy="201168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8FAFC"/>
                </a:solidFill>
                <a:latin typeface="Calibri"/>
              </a:defRPr>
            </a:pPr>
            <a:r>
              <a:t>4. Delayed Response</a:t>
            </a:r>
            <a:br/>
            <a:r>
              <a:t>(Manual Isolation)</a:t>
            </a:r>
            <a:br/>
            <a:r>
              <a:t>103 Hours Total MTTR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89720" y="3063240"/>
            <a:ext cx="2011680" cy="320040"/>
          </a:xfrm>
          <a:prstGeom prst="roundRect">
            <a:avLst>
              <a:gd name="adj" fmla="val 8000"/>
            </a:avLst>
          </a:prstGeom>
          <a:solidFill>
            <a:srgbClr val="334155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43F5E"/>
                </a:solidFill>
                <a:latin typeface="Calibri"/>
              </a:defRPr>
            </a:pPr>
            <a:r>
              <a:t>Slow &amp; Risky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200400" y="2194560"/>
            <a:ext cx="274320" cy="274320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5943600" y="2194560"/>
            <a:ext cx="274320" cy="274320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8686800" y="2194560"/>
            <a:ext cx="274320" cy="274320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31520" y="3657600"/>
            <a:ext cx="5212080" cy="274320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3822192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43F5E"/>
                </a:solidFill>
                <a:latin typeface="Calibri"/>
              </a:defRPr>
            </a:pPr>
            <a:r>
              <a:t>Why the Traditional Process Fails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4206240"/>
            <a:ext cx="480060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Long Waiting Queues: </a:t>
            </a:r>
            <a:r>
              <a:rPr b="0">
                <a:solidFill>
                  <a:srgbClr val="F8FAFC"/>
                </a:solidFill>
              </a:rPr>
              <a:t>Over 70% of total investigation time is spent waiting in unread ticket queues between teams.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Repetitive Manual Work: </a:t>
            </a:r>
            <a:r>
              <a:rPr b="0">
                <a:solidFill>
                  <a:srgbClr val="F8FAFC"/>
                </a:solidFill>
              </a:rPr>
              <a:t>Analysts spend hours copying and pasting IP addresses into different lookup websites.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Disconnected Clues: </a:t>
            </a:r>
            <a:r>
              <a:rPr b="0">
                <a:solidFill>
                  <a:srgbClr val="F8FAFC"/>
                </a:solidFill>
              </a:rPr>
              <a:t>Single alerts don't show the full story, making it easy to miss sophisticated attacks.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657600"/>
            <a:ext cx="5212080" cy="274320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088" y="3822192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BBF24"/>
                </a:solidFill>
                <a:latin typeface="Calibri"/>
              </a:defRPr>
            </a:pPr>
            <a:r>
              <a:t>The Cost to Businesses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088" y="4206240"/>
            <a:ext cx="480060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Hackers Stay Inside for Days: </a:t>
            </a:r>
            <a:r>
              <a:rPr b="0">
                <a:solidFill>
                  <a:srgbClr val="F8FAFC"/>
                </a:solidFill>
              </a:rPr>
              <a:t>Attackers remain hidden for 4.3 days (103 hours) on average before being discovered.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Risk of Accidental Outages: </a:t>
            </a:r>
            <a:r>
              <a:rPr b="0">
                <a:solidFill>
                  <a:srgbClr val="F8FAFC"/>
                </a:solidFill>
              </a:rPr>
              <a:t>Manual panic containment often cuts off critical company web servers by mistake.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High Staff Turnover: </a:t>
            </a:r>
            <a:r>
              <a:rPr b="0">
                <a:solidFill>
                  <a:srgbClr val="F8FAFC"/>
                </a:solidFill>
              </a:rPr>
              <a:t>Burnout from non-stop false alarms causes security analysts to quit within 18 months.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2DD4BF"/>
                </a:solidFill>
                <a:latin typeface="Calibri"/>
              </a:defRPr>
            </a:pPr>
            <a:r>
              <a:t>SECTION 9 | SYSTEMIC FAILURES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Calibri"/>
              </a:defRPr>
            </a:pPr>
            <a:r>
              <a:t>Demerits in Existing Methodology: Quantifying the Inefficiency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Numerical and practical impact of traditional security bottlenecks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237744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627632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43F5E"/>
                </a:solidFill>
                <a:latin typeface="Calibri"/>
              </a:defRPr>
            </a:pPr>
            <a:r>
              <a:t>1. 83% False Alarm Overload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029968"/>
            <a:ext cx="4809744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Massive False Positives: </a:t>
            </a:r>
            <a:r>
              <a:rPr b="0">
                <a:solidFill>
                  <a:srgbClr val="F8FAFC"/>
                </a:solidFill>
              </a:rPr>
              <a:t>83% of daily alerts are harmless system updates or normal employee logins.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Desensitized Analysts: </a:t>
            </a:r>
            <a:r>
              <a:rPr b="0">
                <a:solidFill>
                  <a:srgbClr val="F8FAFC"/>
                </a:solidFill>
              </a:rPr>
              <a:t>When everything is an alarm, real ransomware warnings get ignored as noise.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Severe Staff Burnout: </a:t>
            </a:r>
            <a:r>
              <a:rPr b="0">
                <a:solidFill>
                  <a:srgbClr val="F8FAFC"/>
                </a:solidFill>
              </a:rPr>
              <a:t>Over 60% of analysts report severe burnout from constant repetitive triage.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237744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9088" y="1627632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BBF24"/>
                </a:solidFill>
                <a:latin typeface="Calibri"/>
              </a:defRPr>
            </a:pPr>
            <a:r>
              <a:t>2. 103 Hours Response Delay (4.3 Days)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9088" y="2029968"/>
            <a:ext cx="4809744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Dangerous Window: </a:t>
            </a:r>
            <a:r>
              <a:rPr b="0">
                <a:solidFill>
                  <a:srgbClr val="F8FAFC"/>
                </a:solidFill>
              </a:rPr>
              <a:t>Ransomware locks files in 45 minutes, but legacy teams take 103 hours to respond.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Data Exfiltration: </a:t>
            </a:r>
            <a:r>
              <a:rPr b="0">
                <a:solidFill>
                  <a:srgbClr val="F8FAFC"/>
                </a:solidFill>
              </a:rPr>
              <a:t>Attackers have days to steal confidential customer data and company records.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Ticket Escalation Delay: </a:t>
            </a:r>
            <a:r>
              <a:rPr b="0">
                <a:solidFill>
                  <a:srgbClr val="F8FAFC"/>
                </a:solidFill>
              </a:rPr>
              <a:t>Most time is lost waiting for senior analysts to open transferred tickets.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77639"/>
            <a:ext cx="5212080" cy="237744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4142231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2DD4BF"/>
                </a:solidFill>
                <a:latin typeface="Calibri"/>
              </a:defRPr>
            </a:pPr>
            <a:r>
              <a:t>3. Missing Attack Connections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544567"/>
            <a:ext cx="4809744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Isolated Detections: </a:t>
            </a:r>
            <a:r>
              <a:rPr b="0">
                <a:solidFill>
                  <a:srgbClr val="F8FAFC"/>
                </a:solidFill>
              </a:rPr>
              <a:t>Traditional tools cannot connect a phishing email to a later password change.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No Memory: </a:t>
            </a:r>
            <a:r>
              <a:rPr b="0">
                <a:solidFill>
                  <a:srgbClr val="F8FAFC"/>
                </a:solidFill>
              </a:rPr>
              <a:t>Once a ticket is closed, context about the attacker's infrastructure is forgotten.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Hard to Find Patient-Zero: </a:t>
            </a:r>
            <a:r>
              <a:rPr b="0">
                <a:solidFill>
                  <a:srgbClr val="F8FAFC"/>
                </a:solidFill>
              </a:rPr>
              <a:t>Tracing the original infected machine requires days of manual log digging.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77639"/>
            <a:ext cx="5212080" cy="237744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4142231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38BDF8"/>
                </a:solidFill>
                <a:latin typeface="Calibri"/>
              </a:defRPr>
            </a:pPr>
            <a:r>
              <a:t>4. High Cost &amp; Outage Risks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4544567"/>
            <a:ext cx="4809744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Accidental Outages: </a:t>
            </a:r>
            <a:r>
              <a:rPr b="0">
                <a:solidFill>
                  <a:srgbClr val="F8FAFC"/>
                </a:solidFill>
              </a:rPr>
              <a:t>Mistaken containment commands can knock down critical payroll or email servers.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Millions in Software Costs: </a:t>
            </a:r>
            <a:r>
              <a:rPr b="0">
                <a:solidFill>
                  <a:srgbClr val="F8FAFC"/>
                </a:solidFill>
              </a:rPr>
              <a:t>Commercial tools charge expensive fees per gigabyte, forcing companies to drop logs.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No Audit Trail: </a:t>
            </a:r>
            <a:r>
              <a:rPr b="0">
                <a:solidFill>
                  <a:srgbClr val="F8FAFC"/>
                </a:solidFill>
              </a:rPr>
              <a:t>Manual notes fail to provide tamper-proof evidence needed for legal compliance.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2DD4BF"/>
                </a:solidFill>
                <a:latin typeface="Calibri"/>
              </a:defRPr>
            </a:pPr>
            <a:r>
              <a:t>SECTION 10 | PROPOSED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Calibri"/>
              </a:defRPr>
            </a:pPr>
            <a:r>
              <a:t>Proposed Methodology: The 4-Agent Autonomous AI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Connected multi-agent defense workflow replacing manual multi-tier triage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2560320" cy="493776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627632"/>
            <a:ext cx="215798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38BDF8"/>
                </a:solidFill>
                <a:latin typeface="Calibri"/>
              </a:defRPr>
            </a:pPr>
            <a:r>
              <a:t>1. DetectAgent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1965960"/>
            <a:ext cx="2231136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Role: </a:t>
            </a:r>
            <a:r>
              <a:rPr b="0">
                <a:solidFill>
                  <a:srgbClr val="F8FAFC"/>
                </a:solidFill>
              </a:rPr>
              <a:t>Log Ingestion &amp; Normalization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Inputs: </a:t>
            </a:r>
            <a:r>
              <a:rPr b="0">
                <a:solidFill>
                  <a:srgbClr val="F8FAFC"/>
                </a:solidFill>
              </a:rPr>
              <a:t>AWS, Okta, CrowdStrike, Firewalls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Speed: </a:t>
            </a:r>
            <a:r>
              <a:rPr b="0">
                <a:solidFill>
                  <a:srgbClr val="F8FAFC"/>
                </a:solidFill>
              </a:rPr>
              <a:t>10,000+ logs processed per second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Standard: </a:t>
            </a:r>
            <a:r>
              <a:rPr b="0">
                <a:solidFill>
                  <a:srgbClr val="F8FAFC"/>
                </a:solidFill>
              </a:rPr>
              <a:t>Universal OCSF JSON format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Security: </a:t>
            </a:r>
            <a:r>
              <a:rPr b="0">
                <a:solidFill>
                  <a:srgbClr val="F8FAFC"/>
                </a:solidFill>
              </a:rPr>
              <a:t>Encrypted credential vault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Output: </a:t>
            </a:r>
            <a:r>
              <a:rPr b="0">
                <a:solidFill>
                  <a:srgbClr val="F8FAFC"/>
                </a:solidFill>
              </a:rPr>
              <a:t>Sends normalized events to Kafka stream and updates live graph nodes.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5349240"/>
            <a:ext cx="2231136" cy="86868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sz="1050" b="1">
                <a:solidFill>
                  <a:srgbClr val="38BDF8"/>
                </a:solidFill>
                <a:latin typeface="Calibri"/>
              </a:defRPr>
            </a:pPr>
            <a:r>
              <a:t>Speed: 10,000+ Logs/Sec</a:t>
            </a:r>
          </a:p>
          <a:p>
            <a:pPr algn="ctr">
              <a:spcBef>
                <a:spcPts val="200"/>
              </a:spcBef>
              <a:defRPr sz="950" b="0">
                <a:solidFill>
                  <a:srgbClr val="F8FAFC"/>
                </a:solidFill>
                <a:latin typeface="Calibri"/>
              </a:defRPr>
            </a:pPr>
            <a:r>
              <a:t>Format: Universal OCSF Standard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1463040"/>
            <a:ext cx="2560320" cy="493776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0168" y="1627632"/>
            <a:ext cx="215798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2DD4BF"/>
                </a:solidFill>
                <a:latin typeface="Calibri"/>
              </a:defRPr>
            </a:pPr>
            <a:r>
              <a:t>2. TriageAgent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93592" y="1965960"/>
            <a:ext cx="2231136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Role: </a:t>
            </a:r>
            <a:r>
              <a:rPr b="0">
                <a:solidFill>
                  <a:srgbClr val="F8FAFC"/>
                </a:solidFill>
              </a:rPr>
              <a:t>AI Noise Filtering &amp; Prioritization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AI Engines: </a:t>
            </a:r>
            <a:r>
              <a:rPr b="0">
                <a:solidFill>
                  <a:srgbClr val="F8FAFC"/>
                </a:solidFill>
              </a:rPr>
              <a:t>Bloom Filter + Isolation Forest + Ranker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Threat Matching: </a:t>
            </a:r>
            <a:r>
              <a:rPr b="0">
                <a:solidFill>
                  <a:srgbClr val="F8FAFC"/>
                </a:solidFill>
              </a:rPr>
              <a:t>Checks known threats in &lt;1 millisecond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Noise Filter: </a:t>
            </a:r>
            <a:r>
              <a:rPr b="0">
                <a:solidFill>
                  <a:srgbClr val="F8FAFC"/>
                </a:solidFill>
              </a:rPr>
              <a:t>Removes 89.4% of false alarms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Scoring: </a:t>
            </a:r>
            <a:r>
              <a:rPr b="0">
                <a:solidFill>
                  <a:srgbClr val="F8FAFC"/>
                </a:solidFill>
              </a:rPr>
              <a:t>Calculates 0-100 severity score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Output: </a:t>
            </a:r>
            <a:r>
              <a:rPr b="0">
                <a:solidFill>
                  <a:srgbClr val="F8FAFC"/>
                </a:solidFill>
              </a:rPr>
              <a:t>Passes validated true incidents with confidence scores to HuntAgent.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93592" y="5349240"/>
            <a:ext cx="2231136" cy="86868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 w="1524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sz="1050" b="1">
                <a:solidFill>
                  <a:srgbClr val="2DD4BF"/>
                </a:solidFill>
                <a:latin typeface="Calibri"/>
              </a:defRPr>
            </a:pPr>
            <a:r>
              <a:t>Noise Filter: 89.4% Suppressed</a:t>
            </a:r>
          </a:p>
          <a:p>
            <a:pPr algn="ctr">
              <a:spcBef>
                <a:spcPts val="200"/>
              </a:spcBef>
              <a:defRPr sz="950" b="0">
                <a:solidFill>
                  <a:srgbClr val="F8FAFC"/>
                </a:solidFill>
                <a:latin typeface="Calibri"/>
              </a:defRPr>
            </a:pPr>
            <a:r>
              <a:t>Threat Lookup: &lt;1ms Match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463040"/>
            <a:ext cx="2560320" cy="493776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627632"/>
            <a:ext cx="215798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BBF24"/>
                </a:solidFill>
                <a:latin typeface="Calibri"/>
              </a:defRPr>
            </a:pPr>
            <a:r>
              <a:t>3. HuntAgent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1072" y="1965960"/>
            <a:ext cx="2231136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Role: </a:t>
            </a:r>
            <a:r>
              <a:rPr b="0">
                <a:solidFill>
                  <a:srgbClr val="F8FAFC"/>
                </a:solidFill>
              </a:rPr>
              <a:t>Attack Path Tracing &amp; Root Cause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Graph Engine: </a:t>
            </a:r>
            <a:r>
              <a:rPr b="0">
                <a:solidFill>
                  <a:srgbClr val="F8FAFC"/>
                </a:solidFill>
              </a:rPr>
              <a:t>Neo4j Real-Time Knowledge Graph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Connections: </a:t>
            </a:r>
            <a:r>
              <a:rPr b="0">
                <a:solidFill>
                  <a:srgbClr val="F8FAFC"/>
                </a:solidFill>
              </a:rPr>
              <a:t>17 Entity Types (Users, Hosts, IPs)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Attack Mapping: </a:t>
            </a:r>
            <a:r>
              <a:rPr b="0">
                <a:solidFill>
                  <a:srgbClr val="F8FAFC"/>
                </a:solidFill>
              </a:rPr>
              <a:t>MITRE ATT&amp;CK Framework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Search Surface: </a:t>
            </a:r>
            <a:r>
              <a:rPr b="0">
                <a:solidFill>
                  <a:srgbClr val="F8FAFC"/>
                </a:solidFill>
              </a:rPr>
              <a:t>Natural Language Search (/hunt)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Output: </a:t>
            </a:r>
            <a:r>
              <a:rPr b="0">
                <a:solidFill>
                  <a:srgbClr val="F8FAFC"/>
                </a:solidFill>
              </a:rPr>
              <a:t>Reconstructs complete multi-hop attack trace from patient-zero.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91072" y="5349240"/>
            <a:ext cx="2231136" cy="86868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 w="1524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sz="1050" b="1">
                <a:solidFill>
                  <a:srgbClr val="FBBF24"/>
                </a:solidFill>
                <a:latin typeface="Calibri"/>
              </a:defRPr>
            </a:pPr>
            <a:r>
              <a:t>Graph Map: 17 Entity Types</a:t>
            </a:r>
          </a:p>
          <a:p>
            <a:pPr algn="ctr">
              <a:spcBef>
                <a:spcPts val="200"/>
              </a:spcBef>
              <a:defRPr sz="950" b="0">
                <a:solidFill>
                  <a:srgbClr val="F8FAFC"/>
                </a:solidFill>
                <a:latin typeface="Calibri"/>
              </a:defRPr>
            </a:pPr>
            <a:r>
              <a:t>Interface: Plain English Search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23960" y="1463040"/>
            <a:ext cx="2560320" cy="493776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25128" y="1627632"/>
            <a:ext cx="215798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43F5E"/>
                </a:solidFill>
                <a:latin typeface="Calibri"/>
              </a:defRPr>
            </a:pPr>
            <a:r>
              <a:t>4. RespondAgent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8552" y="1965960"/>
            <a:ext cx="2231136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Role: </a:t>
            </a:r>
            <a:r>
              <a:rPr b="0">
                <a:solidFill>
                  <a:srgbClr val="F8FAFC"/>
                </a:solidFill>
              </a:rPr>
              <a:t>Safe Automated Containment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Playbooks: </a:t>
            </a:r>
            <a:r>
              <a:rPr b="0">
                <a:solidFill>
                  <a:srgbClr val="F8FAFC"/>
                </a:solidFill>
              </a:rPr>
              <a:t>25 Pre-Built Response Actions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Safety Guard: </a:t>
            </a:r>
            <a:r>
              <a:rPr b="0">
                <a:solidFill>
                  <a:srgbClr val="F8FAFC"/>
                </a:solidFill>
              </a:rPr>
              <a:t>Scores risk to avoid server crashes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Human Approval: </a:t>
            </a:r>
            <a:r>
              <a:rPr b="0">
                <a:solidFill>
                  <a:srgbClr val="F8FAFC"/>
                </a:solidFill>
              </a:rPr>
              <a:t>Requires sign-off for critical servers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Audit Trail: </a:t>
            </a:r>
            <a:r>
              <a:rPr b="0">
                <a:solidFill>
                  <a:srgbClr val="F8FAFC"/>
                </a:solidFill>
              </a:rPr>
              <a:t>Tamper-proof digital ledger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Output: </a:t>
            </a:r>
            <a:r>
              <a:rPr b="0">
                <a:solidFill>
                  <a:srgbClr val="F8FAFC"/>
                </a:solidFill>
              </a:rPr>
              <a:t>Executes verified containment and records full audit provenance.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88552" y="5349240"/>
            <a:ext cx="2231136" cy="86868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 w="1524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sz="1050" b="1">
                <a:solidFill>
                  <a:srgbClr val="F43F5E"/>
                </a:solidFill>
                <a:latin typeface="Calibri"/>
              </a:defRPr>
            </a:pPr>
            <a:r>
              <a:t>Response: 25 Safe Playbooks</a:t>
            </a:r>
          </a:p>
          <a:p>
            <a:pPr algn="ctr">
              <a:spcBef>
                <a:spcPts val="200"/>
              </a:spcBef>
              <a:defRPr sz="950" b="0">
                <a:solidFill>
                  <a:srgbClr val="F8FAFC"/>
                </a:solidFill>
                <a:latin typeface="Calibri"/>
              </a:defRPr>
            </a:pPr>
            <a:r>
              <a:t>Safety: 0.0% Accidental Outages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3154680" y="1600200"/>
            <a:ext cx="228600" cy="228600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ight Arrow 22"/>
          <p:cNvSpPr/>
          <p:nvPr/>
        </p:nvSpPr>
        <p:spPr>
          <a:xfrm>
            <a:off x="5852160" y="1600200"/>
            <a:ext cx="228600" cy="228600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8549640" y="1600200"/>
            <a:ext cx="228600" cy="228600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2DD4BF"/>
                </a:solidFill>
                <a:latin typeface="Calibri"/>
              </a:defRPr>
            </a:pPr>
            <a:r>
              <a:t>SECTION 11 | SYSTEM BLUEPRINT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Calibri"/>
              </a:defRPr>
            </a:pPr>
            <a:r>
              <a:t>System Architecture of the AiSOC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The four interconnected technical layers powering the autonomous platform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237744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627632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38BDF8"/>
                </a:solidFill>
                <a:latin typeface="Calibri"/>
              </a:defRPr>
            </a:pPr>
            <a:r>
              <a:t>Layer 1: Ingestion &amp; Data Normalization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029968"/>
            <a:ext cx="4809744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16+ Connectors: </a:t>
            </a:r>
            <a:r>
              <a:rPr b="0">
                <a:solidFill>
                  <a:srgbClr val="F8FAFC"/>
                </a:solidFill>
              </a:rPr>
              <a:t>Connects to AWS GuardDuty, CrowdStrike, Okta, Zeek, and Linux/Windows syslogs.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Apache Kafka Streaming: </a:t>
            </a:r>
            <a:r>
              <a:rPr b="0">
                <a:solidFill>
                  <a:srgbClr val="F8FAFC"/>
                </a:solidFill>
              </a:rPr>
              <a:t>High-speed streaming queue handling 10,000+ logs per second with zero loss.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OCSF Standardizer: </a:t>
            </a:r>
            <a:r>
              <a:rPr b="0">
                <a:solidFill>
                  <a:srgbClr val="F8FAFC"/>
                </a:solidFill>
              </a:rPr>
              <a:t>Converts messy vendor logs into clean, standardized cybersecurity events.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237744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9088" y="1627632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2DD4BF"/>
                </a:solidFill>
                <a:latin typeface="Calibri"/>
              </a:defRPr>
            </a:pPr>
            <a:r>
              <a:t>Layer 2: ML Triage &amp; Knowledge Graph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9088" y="2029968"/>
            <a:ext cx="4809744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Fast Threat Intel Lookup: </a:t>
            </a:r>
            <a:r>
              <a:rPr b="0">
                <a:solidFill>
                  <a:srgbClr val="F8FAFC"/>
                </a:solidFill>
              </a:rPr>
              <a:t>Instant sub-millisecond matching against 50,000+ known malicious IPs and files.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2-Stage ML Triage: </a:t>
            </a:r>
            <a:r>
              <a:rPr b="0">
                <a:solidFill>
                  <a:srgbClr val="F8FAFC"/>
                </a:solidFill>
              </a:rPr>
              <a:t>Stage 1 removes routine noise; Stage 2 scores urgency from 0 to 100.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Streaming Neo4j Graph: </a:t>
            </a:r>
            <a:r>
              <a:rPr b="0">
                <a:solidFill>
                  <a:srgbClr val="F8FAFC"/>
                </a:solidFill>
              </a:rPr>
              <a:t>Builds a visual map connecting users, computers, and processes in real-time.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77639"/>
            <a:ext cx="5212080" cy="237744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4142231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BBF24"/>
                </a:solidFill>
                <a:latin typeface="Calibri"/>
              </a:defRPr>
            </a:pPr>
            <a:r>
              <a:t>Layer 3: Multi-Agent AI Orchestration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544567"/>
            <a:ext cx="4809744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LangGraph State Machine: </a:t>
            </a:r>
            <a:r>
              <a:rPr b="0">
                <a:solidFill>
                  <a:srgbClr val="F8FAFC"/>
                </a:solidFill>
              </a:rPr>
              <a:t>Coordinates the 4 AI agents with step-by-step reasoning and zero infinite loops.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Encrypted Credential Vault: </a:t>
            </a:r>
            <a:r>
              <a:rPr b="0">
                <a:solidFill>
                  <a:srgbClr val="F8FAFC"/>
                </a:solidFill>
              </a:rPr>
              <a:t>Keeps all passwords and cloud API keys securely encrypted with AES-128.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PostgreSQL &amp; Redis: </a:t>
            </a:r>
            <a:r>
              <a:rPr b="0">
                <a:solidFill>
                  <a:srgbClr val="F8FAFC"/>
                </a:solidFill>
              </a:rPr>
              <a:t>Fast database storage for incident cases and live real-time notification streams.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77639"/>
            <a:ext cx="5212080" cy="237744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4142231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43F5E"/>
                </a:solidFill>
                <a:latin typeface="Calibri"/>
              </a:defRPr>
            </a:pPr>
            <a:r>
              <a:t>Layer 4: Analyst Web Console &amp; Safe Response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4544567"/>
            <a:ext cx="4809744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Modern Web Interface: </a:t>
            </a:r>
            <a:r>
              <a:rPr b="0">
                <a:solidFill>
                  <a:srgbClr val="F8FAFC"/>
                </a:solidFill>
              </a:rPr>
              <a:t>Next.js 14 dashboard with live alert feeds, investigation sidebars, and attack graphs.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Safety Guardrails: </a:t>
            </a:r>
            <a:r>
              <a:rPr b="0">
                <a:solidFill>
                  <a:srgbClr val="F8FAFC"/>
                </a:solidFill>
              </a:rPr>
              <a:t>Evaluates risk so automated actions never shut down business-critical servers.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Tamper-Proof Audit Log: </a:t>
            </a:r>
            <a:r>
              <a:rPr b="0">
                <a:solidFill>
                  <a:srgbClr val="F8FAFC"/>
                </a:solidFill>
              </a:rPr>
              <a:t>Records every AI step and human approval in a permanent cryptographic ledger.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200400" y="3749039"/>
            <a:ext cx="274320" cy="201168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ight Arrow 18"/>
          <p:cNvSpPr/>
          <p:nvPr/>
        </p:nvSpPr>
        <p:spPr>
          <a:xfrm>
            <a:off x="8686800" y="3749039"/>
            <a:ext cx="274320" cy="201168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2DD4BF"/>
                </a:solidFill>
                <a:latin typeface="Calibri"/>
              </a:defRPr>
            </a:pPr>
            <a:r>
              <a:t>SECTION 12 | MODULE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Calibri"/>
              </a:defRPr>
            </a:pPr>
            <a:r>
              <a:t>List of Modules in the Proposed AiSOC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Overview of the four core engineering modules comprising the platform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237744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627632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38BDF8"/>
                </a:solidFill>
                <a:latin typeface="Calibri"/>
              </a:defRPr>
            </a:pPr>
            <a:r>
              <a:t>Module 1: Telemetry Ingestion &amp; OCSF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029968"/>
            <a:ext cx="4809744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Core Focus: </a:t>
            </a:r>
            <a:r>
              <a:rPr b="0">
                <a:solidFill>
                  <a:srgbClr val="F8FAFC"/>
                </a:solidFill>
              </a:rPr>
              <a:t>High-speed log collection and universal data formatting.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Technologies Used: </a:t>
            </a:r>
            <a:r>
              <a:rPr b="0">
                <a:solidFill>
                  <a:srgbClr val="F8FAFC"/>
                </a:solidFill>
              </a:rPr>
              <a:t>Python FastAPI, Apache Kafka, OCSF Standard v1.1.0.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Main Function: </a:t>
            </a:r>
            <a:r>
              <a:rPr b="0">
                <a:solidFill>
                  <a:srgbClr val="F8FAFC"/>
                </a:solidFill>
              </a:rPr>
              <a:t>Collects raw logs from 16+ tools, decrypts credentials, and creates standard OCSF records.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237744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9088" y="1627632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2DD4BF"/>
                </a:solidFill>
                <a:latin typeface="Calibri"/>
              </a:defRPr>
            </a:pPr>
            <a:r>
              <a:t>Module 2: ML Triage &amp; Threat Intelligence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9088" y="2029968"/>
            <a:ext cx="4809744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Core Focus: </a:t>
            </a:r>
            <a:r>
              <a:rPr b="0">
                <a:solidFill>
                  <a:srgbClr val="F8FAFC"/>
                </a:solidFill>
              </a:rPr>
              <a:t>Removing false alarms and scoring incident urgency.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Technologies Used: </a:t>
            </a:r>
            <a:r>
              <a:rPr b="0">
                <a:solidFill>
                  <a:srgbClr val="F8FAFC"/>
                </a:solidFill>
              </a:rPr>
              <a:t>Bloom Filters, Isolation Forest ML, LambdaRank Priority Model.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Main Function: </a:t>
            </a:r>
            <a:r>
              <a:rPr b="0">
                <a:solidFill>
                  <a:srgbClr val="F8FAFC"/>
                </a:solidFill>
              </a:rPr>
              <a:t>Filters 89.4% of false alarms and assigns a clear 0-100 severity score to true incidents.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77639"/>
            <a:ext cx="5212080" cy="237744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4142231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BBF24"/>
                </a:solidFill>
                <a:latin typeface="Calibri"/>
              </a:defRPr>
            </a:pPr>
            <a:r>
              <a:t>Module 3: Knowledge Graph Threat Hunting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544567"/>
            <a:ext cx="4809744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Core Focus: </a:t>
            </a:r>
            <a:r>
              <a:rPr b="0">
                <a:solidFill>
                  <a:srgbClr val="F8FAFC"/>
                </a:solidFill>
              </a:rPr>
              <a:t>Tracing attack paths and natural language threat search.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Technologies Used: </a:t>
            </a:r>
            <a:r>
              <a:rPr b="0">
                <a:solidFill>
                  <a:srgbClr val="F8FAFC"/>
                </a:solidFill>
              </a:rPr>
              <a:t>Neo4j Graph Database, Cypher Queries, MITRE ATT&amp;CK Matrix.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Main Function: </a:t>
            </a:r>
            <a:r>
              <a:rPr b="0">
                <a:solidFill>
                  <a:srgbClr val="F8FAFC"/>
                </a:solidFill>
              </a:rPr>
              <a:t>Connects multi-step attacks in a visual graph and lets analysts search using plain English.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77639"/>
            <a:ext cx="5212080" cy="237744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4142231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43F5E"/>
                </a:solidFill>
                <a:latin typeface="Calibri"/>
              </a:defRPr>
            </a:pPr>
            <a:r>
              <a:t>Module 4: Safe Autonomous Response &amp; SOAR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4544567"/>
            <a:ext cx="4809744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Core Focus: </a:t>
            </a:r>
            <a:r>
              <a:rPr b="0">
                <a:solidFill>
                  <a:srgbClr val="F8FAFC"/>
                </a:solidFill>
              </a:rPr>
              <a:t>Automated incident containment with safety controls.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Technologies Used: </a:t>
            </a:r>
            <a:r>
              <a:rPr b="0">
                <a:solidFill>
                  <a:srgbClr val="F8FAFC"/>
                </a:solidFill>
              </a:rPr>
              <a:t>LangGraph Workflow, Automated Playbooks, Tamper-Proof Audit Log.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Main Function: </a:t>
            </a:r>
            <a:r>
              <a:rPr b="0">
                <a:solidFill>
                  <a:srgbClr val="F8FAFC"/>
                </a:solidFill>
              </a:rPr>
              <a:t>Safely contains threats (isolate host, revoke tokens) with human approval for critical assets.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2DD4BF"/>
                </a:solidFill>
                <a:latin typeface="Calibri"/>
              </a:defRPr>
            </a:pPr>
            <a:r>
              <a:t>SECTION 13 | MODULE SPECIFICATION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Calibri"/>
              </a:defRPr>
            </a:pPr>
            <a:r>
              <a:t>Module 1: Telemetry Ingestion &amp; OCSF Normalization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Collecting and standardizing logs from all enterprise security tools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389120" cy="493776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627632"/>
            <a:ext cx="398678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38BDF8"/>
                </a:solidFill>
                <a:latin typeface="Calibri"/>
              </a:defRPr>
            </a:pPr>
            <a:r>
              <a:t>Module 1 Architecture &amp;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1965960"/>
            <a:ext cx="3977639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16+ Pre-Built Connectors: </a:t>
            </a:r>
            <a:r>
              <a:rPr b="0">
                <a:solidFill>
                  <a:srgbClr val="F8FAFC"/>
                </a:solidFill>
              </a:rPr>
              <a:t>Direct integration with AWS GuardDuty, CrowdStrike, Okta, Sysdig, Zeek, and Linux syslogs.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10,000+ Logs Per Second: </a:t>
            </a:r>
            <a:r>
              <a:rPr b="0">
                <a:solidFill>
                  <a:srgbClr val="F8FAFC"/>
                </a:solidFill>
              </a:rPr>
              <a:t>High-throughput Kafka streaming queue handles peak enterprise log volume with zero dropped events.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Universal OCSF Standard: </a:t>
            </a:r>
            <a:r>
              <a:rPr b="0">
                <a:solidFill>
                  <a:srgbClr val="F8FAFC"/>
                </a:solidFill>
              </a:rPr>
              <a:t>Converts all different log formats into a single standard schema for easy analysis.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Encrypted Credential Vault: </a:t>
            </a:r>
            <a:r>
              <a:rPr b="0">
                <a:solidFill>
                  <a:srgbClr val="F8FAFC"/>
                </a:solidFill>
              </a:rPr>
              <a:t>Protects sensitive cloud access tokens using strong AES-128 encryption.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5-Tier Severity Scale: </a:t>
            </a:r>
            <a:r>
              <a:rPr b="0">
                <a:solidFill>
                  <a:srgbClr val="F8FAFC"/>
                </a:solidFill>
              </a:rPr>
              <a:t>Accurately maps vendor alert levels (Info, Low, Medium, High, Critical) without loss.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Reliable Replay Queue: </a:t>
            </a:r>
            <a:r>
              <a:rPr b="0">
                <a:solidFill>
                  <a:srgbClr val="F8FAFC"/>
                </a:solidFill>
              </a:rPr>
              <a:t>Automatically retries and recovers logs if any network disconnect occurs.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" y="5349240"/>
            <a:ext cx="3977639" cy="86868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sz="1050" b="1">
                <a:solidFill>
                  <a:srgbClr val="38BDF8"/>
                </a:solidFill>
                <a:latin typeface="Calibri"/>
              </a:defRPr>
            </a:pPr>
            <a:r>
              <a:t>Speed: 10,000+ Logs/Sec | 16+ Connectors</a:t>
            </a:r>
          </a:p>
          <a:p>
            <a:pPr algn="ctr">
              <a:spcBef>
                <a:spcPts val="200"/>
              </a:spcBef>
              <a:defRPr sz="950" b="0">
                <a:solidFill>
                  <a:srgbClr val="F8FAFC"/>
                </a:solidFill>
                <a:latin typeface="Calibri"/>
              </a:defRPr>
            </a:pPr>
            <a:r>
              <a:t>Standard: Universal OCSF v1.1.0 | AES-128 Vault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0" y="1463040"/>
            <a:ext cx="6126480" cy="493776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04688" y="1627632"/>
            <a:ext cx="57241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38BDF8"/>
                </a:solidFill>
                <a:latin typeface="Calibri"/>
              </a:defRPr>
            </a:pPr>
            <a:r>
              <a:t>Live Observability Dashboard &amp; Ingestion View</a:t>
            </a:r>
          </a:p>
        </p:txBody>
      </p:sp>
      <p:pic>
        <p:nvPicPr>
          <p:cNvPr id="12" name="Picture 11" descr="screen10_system_observ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057400"/>
            <a:ext cx="57607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2DD4BF"/>
                </a:solidFill>
                <a:latin typeface="Calibri"/>
              </a:defRPr>
            </a:pPr>
            <a:r>
              <a:t>SECTION 14 | MODULE SPECIFICATION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Calibri"/>
              </a:defRPr>
            </a:pPr>
            <a:r>
              <a:t>Module 2: ML Triage &amp; Threat Intelligence Filtering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Using machine learning to eliminate false alarms and prioritize real threats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389120" cy="493776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627632"/>
            <a:ext cx="398678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2DD4BF"/>
                </a:solidFill>
                <a:latin typeface="Calibri"/>
              </a:defRPr>
            </a:pPr>
            <a:r>
              <a:t>Module 2 Architecture &amp;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1965960"/>
            <a:ext cx="3977639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Instant Threat Lookup: </a:t>
            </a:r>
            <a:r>
              <a:rPr b="0">
                <a:solidFill>
                  <a:srgbClr val="F8FAFC"/>
                </a:solidFill>
              </a:rPr>
              <a:t>Checks 50,000+ known attacker IPs and malicious file hashes in under 1 millisecond.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Stage-1: Noise Filter: </a:t>
            </a:r>
            <a:r>
              <a:rPr b="0">
                <a:solidFill>
                  <a:srgbClr val="F8FAFC"/>
                </a:solidFill>
              </a:rPr>
              <a:t>Machine learning model spots routine administrative activity and automatically discards it.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Stage-2: Priority Ranking: </a:t>
            </a:r>
            <a:r>
              <a:rPr b="0">
                <a:solidFill>
                  <a:srgbClr val="F8FAFC"/>
                </a:solidFill>
              </a:rPr>
              <a:t>Ranks the remaining real security events so analysts handle urgent threats first.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89.4% Noise Reduction: </a:t>
            </a:r>
            <a:r>
              <a:rPr b="0">
                <a:solidFill>
                  <a:srgbClr val="F8FAFC"/>
                </a:solidFill>
              </a:rPr>
              <a:t>Proven reduction in daily alert volume, cutting 500+ alerts down to actionable cases.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0-100 Confidence Score: </a:t>
            </a:r>
            <a:r>
              <a:rPr b="0">
                <a:solidFill>
                  <a:srgbClr val="F8FAFC"/>
                </a:solidFill>
              </a:rPr>
              <a:t>Gives every alert an easy-to-understand confidence percentage and severity tag.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Self-Learning Baselines: </a:t>
            </a:r>
            <a:r>
              <a:rPr b="0">
                <a:solidFill>
                  <a:srgbClr val="F8FAFC"/>
                </a:solidFill>
              </a:rPr>
              <a:t>Continuously learns regular company patterns to keep improving triage accuracy.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" y="5349240"/>
            <a:ext cx="3977639" cy="86868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 w="1524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sz="1050" b="1">
                <a:solidFill>
                  <a:srgbClr val="2DD4BF"/>
                </a:solidFill>
                <a:latin typeface="Calibri"/>
              </a:defRPr>
            </a:pPr>
            <a:r>
              <a:t>Accuracy: 89.4% False Alarms Filtered</a:t>
            </a:r>
          </a:p>
          <a:p>
            <a:pPr algn="ctr">
              <a:spcBef>
                <a:spcPts val="200"/>
              </a:spcBef>
              <a:defRPr sz="950" b="0">
                <a:solidFill>
                  <a:srgbClr val="F8FAFC"/>
                </a:solidFill>
                <a:latin typeface="Calibri"/>
              </a:defRPr>
            </a:pPr>
            <a:r>
              <a:t>Speed: &lt;1ms Known Threat Lookup | 2-Stage ML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0" y="1463040"/>
            <a:ext cx="6126480" cy="493776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04688" y="1627632"/>
            <a:ext cx="57241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2DD4BF"/>
                </a:solidFill>
                <a:latin typeface="Calibri"/>
              </a:defRPr>
            </a:pPr>
            <a:r>
              <a:t>Autonomous AI Triage Result (CLI Execution)</a:t>
            </a:r>
          </a:p>
        </p:txBody>
      </p:sp>
      <p:pic>
        <p:nvPicPr>
          <p:cNvPr id="12" name="Picture 11" descr="screen2_cli_triage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057400"/>
            <a:ext cx="57607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2DD4BF"/>
                </a:solidFill>
                <a:latin typeface="Calibri"/>
              </a:defRPr>
            </a:pPr>
            <a:r>
              <a:t>SECTION 15 | MODULE SPECIFICATION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Calibri"/>
              </a:defRPr>
            </a:pPr>
            <a:r>
              <a:t>Module 3: Real-Time Attack Graph &amp; Threat Hunting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Visualizing attack connections and enabling simple plain-English threat searches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389120" cy="493776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627632"/>
            <a:ext cx="398678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BBF24"/>
                </a:solidFill>
                <a:latin typeface="Calibri"/>
              </a:defRPr>
            </a:pPr>
            <a:r>
              <a:t>Module 3 Architecture &amp;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1965960"/>
            <a:ext cx="3977639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Live Visual Graph: </a:t>
            </a:r>
            <a:r>
              <a:rPr b="0">
                <a:solidFill>
                  <a:srgbClr val="F8FAFC"/>
                </a:solidFill>
              </a:rPr>
              <a:t>Builds an interconnected map of users, devices, files, and logins in real-time.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17 Entity Types Connected: </a:t>
            </a:r>
            <a:r>
              <a:rPr b="0">
                <a:solidFill>
                  <a:srgbClr val="F8FAFC"/>
                </a:solidFill>
              </a:rPr>
              <a:t>Connects Users -&gt; Passwords -&gt; Processes -&gt; Servers -&gt; External Network IPs.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Traces Attack Paths: </a:t>
            </a:r>
            <a:r>
              <a:rPr b="0">
                <a:solidFill>
                  <a:srgbClr val="F8FAFC"/>
                </a:solidFill>
              </a:rPr>
              <a:t>Automatically uncovers how an attacker hopped from a phishing email to the server room.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MITRE ATT&amp;CK Mapping: </a:t>
            </a:r>
            <a:r>
              <a:rPr b="0">
                <a:solidFill>
                  <a:srgbClr val="F8FAFC"/>
                </a:solidFill>
              </a:rPr>
              <a:t>Tags recognized attacker tactics (e.g. Password Theft, Lateral Movement).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Plain English /hunt Search: </a:t>
            </a:r>
            <a:r>
              <a:rPr b="0">
                <a:solidFill>
                  <a:srgbClr val="F8FAFC"/>
                </a:solidFill>
              </a:rPr>
              <a:t>Analysts can type questions in normal English (e.g. 'Show logins from Russia').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Strict Data Privacy: </a:t>
            </a:r>
            <a:r>
              <a:rPr b="0">
                <a:solidFill>
                  <a:srgbClr val="F8FAFC"/>
                </a:solidFill>
              </a:rPr>
              <a:t>Ensures sensitive department data is strictly isolated within the graph.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" y="5349240"/>
            <a:ext cx="3977639" cy="86868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 w="1524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sz="1050" b="1">
                <a:solidFill>
                  <a:srgbClr val="FBBF24"/>
                </a:solidFill>
                <a:latin typeface="Calibri"/>
              </a:defRPr>
            </a:pPr>
            <a:r>
              <a:t>Graph Map: 17 Entity Types | 14 Relationships</a:t>
            </a:r>
          </a:p>
          <a:p>
            <a:pPr algn="ctr">
              <a:spcBef>
                <a:spcPts val="200"/>
              </a:spcBef>
              <a:defRPr sz="950" b="0">
                <a:solidFill>
                  <a:srgbClr val="F8FAFC"/>
                </a:solidFill>
                <a:latin typeface="Calibri"/>
              </a:defRPr>
            </a:pPr>
            <a:r>
              <a:t>Search: Plain English /hunt -&gt; Auto Graph Query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0" y="1463040"/>
            <a:ext cx="6126480" cy="493776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04688" y="1627632"/>
            <a:ext cx="57241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BBF24"/>
                </a:solidFill>
                <a:latin typeface="Calibri"/>
              </a:defRPr>
            </a:pPr>
            <a:r>
              <a:t>Threat Hunting (/hunt) Plain English Workbench</a:t>
            </a:r>
          </a:p>
        </p:txBody>
      </p:sp>
      <p:pic>
        <p:nvPicPr>
          <p:cNvPr id="12" name="Picture 11" descr="app_screenshot_hu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057400"/>
            <a:ext cx="57607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2DD4BF"/>
                </a:solidFill>
                <a:latin typeface="Calibri"/>
              </a:defRPr>
            </a:pPr>
            <a:r>
              <a:t>SECTION 16 | MODULE SPECIFICATION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Calibri"/>
              </a:defRPr>
            </a:pPr>
            <a:r>
              <a:t>Module 4: Safe Autonomous Response &amp; Playbook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Executing fast incident containment with strict safety guardrails and audit logs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389120" cy="493776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627632"/>
            <a:ext cx="398678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43F5E"/>
                </a:solidFill>
                <a:latin typeface="Calibri"/>
              </a:defRPr>
            </a:pPr>
            <a:r>
              <a:t>Module 4 Architecture &amp;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1965960"/>
            <a:ext cx="3977639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Safety Risk Scoring: </a:t>
            </a:r>
            <a:r>
              <a:rPr b="0">
                <a:solidFill>
                  <a:srgbClr val="F8FAFC"/>
                </a:solidFill>
              </a:rPr>
              <a:t>Calculates asset importance before acting so critical servers are never taken down.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4-Level Safety Model: </a:t>
            </a:r>
            <a:r>
              <a:rPr b="0">
                <a:solidFill>
                  <a:srgbClr val="F8FAFC"/>
                </a:solidFill>
              </a:rPr>
              <a:t>Low-risk actions run automatically; high-risk actions (isolate server) require human sign-off.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25 Pre-Built Playbooks: </a:t>
            </a:r>
            <a:r>
              <a:rPr b="0">
                <a:solidFill>
                  <a:srgbClr val="F8FAFC"/>
                </a:solidFill>
              </a:rPr>
              <a:t>Instant automated workflows for isolating infected hosts, resetting passwords, and blocking IPs.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Network Safety Guard: </a:t>
            </a:r>
            <a:r>
              <a:rPr b="0">
                <a:solidFill>
                  <a:srgbClr val="F8FAFC"/>
                </a:solidFill>
              </a:rPr>
              <a:t>Blocks automated actions from accidentally targeting private company IP ranges.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Tamper-Proof Audit Log: </a:t>
            </a:r>
            <a:r>
              <a:rPr b="0">
                <a:solidFill>
                  <a:srgbClr val="F8FAFC"/>
                </a:solidFill>
              </a:rPr>
              <a:t>Records every step, decision reason, and human approval in an immutable digital log.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ChatOps Notifications: </a:t>
            </a:r>
            <a:r>
              <a:rPr b="0">
                <a:solidFill>
                  <a:srgbClr val="F8FAFC"/>
                </a:solidFill>
              </a:rPr>
              <a:t>Sends instant alerts to Slack &amp; Teams with one-click approval buttons for analysts.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" y="5349240"/>
            <a:ext cx="3977639" cy="86868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 w="1524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sz="1050" b="1">
                <a:solidFill>
                  <a:srgbClr val="F43F5E"/>
                </a:solidFill>
                <a:latin typeface="Calibri"/>
              </a:defRPr>
            </a:pPr>
            <a:r>
              <a:t>Safety Control: 4-Level Maturity Ladder</a:t>
            </a:r>
          </a:p>
          <a:p>
            <a:pPr algn="ctr">
              <a:spcBef>
                <a:spcPts val="200"/>
              </a:spcBef>
              <a:defRPr sz="950" b="0">
                <a:solidFill>
                  <a:srgbClr val="F8FAFC"/>
                </a:solidFill>
                <a:latin typeface="Calibri"/>
              </a:defRPr>
            </a:pPr>
            <a:r>
              <a:t>Response: 25 Playbooks | 0.0% Accidental Outages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0" y="1463040"/>
            <a:ext cx="6126480" cy="493776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04688" y="1627632"/>
            <a:ext cx="57241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43F5E"/>
                </a:solidFill>
                <a:latin typeface="Calibri"/>
              </a:defRPr>
            </a:pPr>
            <a:r>
              <a:t>Visual Playbook Studio &amp; Action Approval Interface</a:t>
            </a:r>
          </a:p>
        </p:txBody>
      </p:sp>
      <p:pic>
        <p:nvPicPr>
          <p:cNvPr id="12" name="Picture 11" descr="screen8_action_appro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057400"/>
            <a:ext cx="57607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2DD4BF"/>
                </a:solidFill>
                <a:latin typeface="Calibri"/>
              </a:defRPr>
            </a:pPr>
            <a:r>
              <a:t>SECTION 17 | EMPIRICAL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Calibri"/>
              </a:defRPr>
            </a:pPr>
            <a:r>
              <a:t>Experimental Results: Performance Benchmarks &amp;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Validated against a benchmark dataset of 200 attack incidents and 50,000 security events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2468880" cy="105156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44752"/>
            <a:ext cx="2468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500" b="1">
                <a:solidFill>
                  <a:srgbClr val="4ADE80"/>
                </a:solidFill>
                <a:latin typeface="Calibri"/>
              </a:defRPr>
            </a:pPr>
            <a:r>
              <a:t>89.4%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2468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8FAFC"/>
                </a:solidFill>
                <a:latin typeface="Calibri"/>
              </a:defRPr>
            </a:pPr>
            <a:r>
              <a:t>False Alarms Filtered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371600"/>
            <a:ext cx="2468880" cy="105156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0" y="1444752"/>
            <a:ext cx="2468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500" b="1">
                <a:solidFill>
                  <a:srgbClr val="2DD4BF"/>
                </a:solidFill>
                <a:latin typeface="Calibri"/>
              </a:defRPr>
            </a:pPr>
            <a:r>
              <a:t>3.8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1965960"/>
            <a:ext cx="2468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8FAFC"/>
                </a:solidFill>
                <a:latin typeface="Calibri"/>
              </a:defRPr>
            </a:pPr>
            <a:r>
              <a:t>Average Response Time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371600"/>
            <a:ext cx="2468880" cy="105156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1444752"/>
            <a:ext cx="2468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500" b="1">
                <a:solidFill>
                  <a:srgbClr val="38BDF8"/>
                </a:solidFill>
                <a:latin typeface="Calibri"/>
              </a:defRPr>
            </a:pPr>
            <a:r>
              <a:t>96.4%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965960"/>
            <a:ext cx="2468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8FAFC"/>
                </a:solidFill>
                <a:latin typeface="Calibri"/>
              </a:defRPr>
            </a:pPr>
            <a:r>
              <a:t>MITRE Attack Accuracy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1371600"/>
            <a:ext cx="2468880" cy="105156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0" y="1444752"/>
            <a:ext cx="2468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500" b="1">
                <a:solidFill>
                  <a:srgbClr val="FBBF24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1965960"/>
            <a:ext cx="2468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8FAFC"/>
                </a:solidFill>
                <a:latin typeface="Calibri"/>
              </a:defRPr>
            </a:pPr>
            <a:r>
              <a:t>Zero-Outage Safety Rate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731520" y="2606040"/>
          <a:ext cx="530352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143000"/>
                <a:gridCol w="1143000"/>
                <a:gridCol w="1188720"/>
              </a:tblGrid>
              <a:tr h="786384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Performance Metric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Traditional SIEM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Legacy SOAR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AiSOC (Ours)</a:t>
                      </a:r>
                    </a:p>
                  </a:txBody>
                  <a:tcPr>
                    <a:solidFill>
                      <a:srgbClr val="2DD4B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Response Time (MTTR)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103.2 hours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14.5 hours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DD4BF"/>
                          </a:solidFill>
                          <a:latin typeface="Calibri"/>
                        </a:defRPr>
                      </a:pPr>
                      <a:r>
                        <a:t>3.8 minutes (1600x faster)</a:t>
                      </a:r>
                    </a:p>
                  </a:txBody>
                  <a:tcPr>
                    <a:solidFill>
                      <a:srgbClr val="183046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False Alarm Noise Rate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83.4% noise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62.1% noise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DD4BF"/>
                          </a:solidFill>
                          <a:latin typeface="Calibri"/>
                        </a:defRPr>
                      </a:pPr>
                      <a:r>
                        <a:t>10.6% (89.4% filtered)</a:t>
                      </a:r>
                    </a:p>
                  </a:txBody>
                  <a:tcPr>
                    <a:solidFill>
                      <a:srgbClr val="183046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Attack Path Accuracy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42.0%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58.5%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DD4BF"/>
                          </a:solidFill>
                          <a:latin typeface="Calibri"/>
                        </a:defRPr>
                      </a:pPr>
                      <a:r>
                        <a:t>96.4% Accuracy</a:t>
                      </a:r>
                    </a:p>
                  </a:txBody>
                  <a:tcPr>
                    <a:solidFill>
                      <a:srgbClr val="183046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Accidental Outage Rate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12.5% outages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8.0% outages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DD4BF"/>
                          </a:solidFill>
                          <a:latin typeface="Calibri"/>
                        </a:defRPr>
                      </a:pPr>
                      <a:r>
                        <a:t>0.0% (100% Safe Gated)</a:t>
                      </a:r>
                    </a:p>
                  </a:txBody>
                  <a:tcPr>
                    <a:solidFill>
                      <a:srgbClr val="183046"/>
                    </a:solidFill>
                  </a:tcPr>
                </a:tc>
              </a:tr>
            </a:tbl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6217920" y="2606040"/>
            <a:ext cx="5212080" cy="393192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9088" y="2770632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2DD4BF"/>
                </a:solidFill>
                <a:latin typeface="Calibri"/>
              </a:defRPr>
            </a:pPr>
            <a:r>
              <a:t>Empirical Performance Benchmark Charts</a:t>
            </a:r>
          </a:p>
        </p:txBody>
      </p:sp>
      <p:pic>
        <p:nvPicPr>
          <p:cNvPr id="21" name="Picture 20" descr="ppt_fig_experimental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108960"/>
            <a:ext cx="49377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2DD4BF"/>
                </a:solidFill>
                <a:latin typeface="Calibri"/>
              </a:defRPr>
            </a:pPr>
            <a:r>
              <a:t>SECTION 18 | PROJECT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Calibri"/>
              </a:defRPr>
            </a:pPr>
            <a:r>
              <a:t>Conclusion &amp; Future Work: Advancing Autonomous Cybersecurity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Key achievements accomplished and visual 4-phase roadmap for future enhancements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493776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627632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2DD4BF"/>
                </a:solidFill>
                <a:latin typeface="Calibri"/>
              </a:defRPr>
            </a:pPr>
            <a:r>
              <a:t>Project Milestones &amp; Conclusion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1965960"/>
            <a:ext cx="480060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9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Full Autonomous SOC Delivered: </a:t>
            </a:r>
            <a:r>
              <a:rPr b="0">
                <a:solidFill>
                  <a:srgbClr val="F8FAFC"/>
                </a:solidFill>
              </a:rPr>
              <a:t>Built a complete open-source platform uniting 16+ data sources and four collaborative AI agents.</a:t>
            </a:r>
          </a:p>
          <a:p>
            <a:pPr>
              <a:spcAft>
                <a:spcPts val="9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Proven 89.4% Noise Reduction: </a:t>
            </a:r>
            <a:r>
              <a:rPr b="0">
                <a:solidFill>
                  <a:srgbClr val="F8FAFC"/>
                </a:solidFill>
              </a:rPr>
              <a:t>Empirically verified that AI triage removes 89.4% of false alarms while cutting response time to 3.8 minutes.</a:t>
            </a:r>
          </a:p>
          <a:p>
            <a:pPr>
              <a:spcAft>
                <a:spcPts val="9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100% Safe Containment: </a:t>
            </a:r>
            <a:r>
              <a:rPr b="0">
                <a:solidFill>
                  <a:srgbClr val="F8FAFC"/>
                </a:solidFill>
              </a:rPr>
              <a:t>Designed safety guardrails that prevent accidental server shutdowns while recording full audit logs.</a:t>
            </a:r>
          </a:p>
          <a:p>
            <a:pPr>
              <a:spcAft>
                <a:spcPts val="9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Verified on Real Hardware: </a:t>
            </a:r>
            <a:r>
              <a:rPr b="0">
                <a:solidFill>
                  <a:srgbClr val="F8FAFC"/>
                </a:solidFill>
              </a:rPr>
              <a:t>Successfully tested on a physical enterprise Cisco Catalyst switch and Proxmox server cluster.</a:t>
            </a:r>
          </a:p>
          <a:p>
            <a:pPr>
              <a:spcAft>
                <a:spcPts val="9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Production Open-Source Code: </a:t>
            </a:r>
            <a:r>
              <a:rPr b="0">
                <a:solidFill>
                  <a:srgbClr val="F8FAFC"/>
                </a:solidFill>
              </a:rPr>
              <a:t>Delivered a complete Next.js web console, Python microservices, and 939 executable detection rules.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" y="5349240"/>
            <a:ext cx="4800600" cy="86868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 w="1524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sz="1050" b="1">
                <a:solidFill>
                  <a:srgbClr val="2DD4BF"/>
                </a:solidFill>
                <a:latin typeface="Calibri"/>
              </a:defRPr>
            </a:pPr>
            <a:r>
              <a:t>Hardware Status: 100% Verified on Cisco 3850 &amp; Proxmox</a:t>
            </a:r>
          </a:p>
          <a:p>
            <a:pPr algn="ctr">
              <a:spcBef>
                <a:spcPts val="200"/>
              </a:spcBef>
              <a:defRPr sz="950" b="0">
                <a:solidFill>
                  <a:srgbClr val="F8FAFC"/>
                </a:solidFill>
                <a:latin typeface="Calibri"/>
              </a:defRPr>
            </a:pPr>
            <a:r>
              <a:t>Codebase: 939 Executable Detection Rules | Full CI/CD Pass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5212080" cy="493776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627632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38BDF8"/>
                </a:solidFill>
                <a:latin typeface="Calibri"/>
              </a:defRPr>
            </a:pPr>
            <a:r>
              <a:t>Future Research &amp; Development Roadmap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19088" y="1965960"/>
            <a:ext cx="4800600" cy="713232"/>
          </a:xfrm>
          <a:prstGeom prst="roundRect">
            <a:avLst>
              <a:gd name="adj" fmla="val 8000"/>
            </a:avLst>
          </a:prstGeom>
          <a:solidFill>
            <a:srgbClr val="334155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100" b="1">
                <a:solidFill>
                  <a:srgbClr val="38BDF8"/>
                </a:solidFill>
                <a:latin typeface="Calibri"/>
              </a:defRPr>
            </a:pPr>
            <a:r>
              <a:t>Phase 1: Deep Kernel eBPF Probes</a:t>
            </a:r>
          </a:p>
          <a:p>
            <a:pPr>
              <a:spcBef>
                <a:spcPts val="100"/>
              </a:spcBef>
              <a:defRPr sz="950">
                <a:solidFill>
                  <a:srgbClr val="F8FAFC"/>
                </a:solidFill>
                <a:latin typeface="Calibri"/>
              </a:defRPr>
            </a:pPr>
            <a:r>
              <a:t>Sub-millisecond rootkit detection bypassing user-space log tampering.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19088" y="2788920"/>
            <a:ext cx="4800600" cy="713232"/>
          </a:xfrm>
          <a:prstGeom prst="roundRect">
            <a:avLst>
              <a:gd name="adj" fmla="val 8000"/>
            </a:avLst>
          </a:prstGeom>
          <a:solidFill>
            <a:srgbClr val="334155"/>
          </a:solidFill>
          <a:ln w="1524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100" b="1">
                <a:solidFill>
                  <a:srgbClr val="2DD4BF"/>
                </a:solidFill>
                <a:latin typeface="Calibri"/>
              </a:defRPr>
            </a:pPr>
            <a:r>
              <a:t>Phase 2: Federated Threat Sharing</a:t>
            </a:r>
          </a:p>
          <a:p>
            <a:pPr>
              <a:spcBef>
                <a:spcPts val="100"/>
              </a:spcBef>
              <a:defRPr sz="950">
                <a:solidFill>
                  <a:srgbClr val="F8FAFC"/>
                </a:solidFill>
                <a:latin typeface="Calibri"/>
              </a:defRPr>
            </a:pPr>
            <a:r>
              <a:t>Zero-knowledge proof threat intelligence sharing between organizations.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19088" y="3611880"/>
            <a:ext cx="4800600" cy="713232"/>
          </a:xfrm>
          <a:prstGeom prst="roundRect">
            <a:avLst>
              <a:gd name="adj" fmla="val 8000"/>
            </a:avLst>
          </a:prstGeom>
          <a:solidFill>
            <a:srgbClr val="334155"/>
          </a:solidFill>
          <a:ln w="1524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100" b="1">
                <a:solidFill>
                  <a:srgbClr val="FBBF24"/>
                </a:solidFill>
                <a:latin typeface="Calibri"/>
              </a:defRPr>
            </a:pPr>
            <a:r>
              <a:t>Phase 3: Self-Tuning Detection AI</a:t>
            </a:r>
          </a:p>
          <a:p>
            <a:pPr>
              <a:spcBef>
                <a:spcPts val="100"/>
              </a:spcBef>
              <a:defRPr sz="950">
                <a:solidFill>
                  <a:srgbClr val="F8FAFC"/>
                </a:solidFill>
                <a:latin typeface="Calibri"/>
              </a:defRPr>
            </a:pPr>
            <a:r>
              <a:t>Generative adversary agents that automatically write and test Sigma rules.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19088" y="4434840"/>
            <a:ext cx="4800600" cy="713232"/>
          </a:xfrm>
          <a:prstGeom prst="roundRect">
            <a:avLst>
              <a:gd name="adj" fmla="val 8000"/>
            </a:avLst>
          </a:prstGeom>
          <a:solidFill>
            <a:srgbClr val="334155"/>
          </a:solidFill>
          <a:ln w="1524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100" b="1">
                <a:solidFill>
                  <a:srgbClr val="4ADE80"/>
                </a:solidFill>
                <a:latin typeface="Calibri"/>
              </a:defRPr>
            </a:pPr>
            <a:r>
              <a:t>Phase 4: Autonomous Self-Healing SOC</a:t>
            </a:r>
          </a:p>
          <a:p>
            <a:pPr>
              <a:spcBef>
                <a:spcPts val="100"/>
              </a:spcBef>
              <a:defRPr sz="950">
                <a:solidFill>
                  <a:srgbClr val="F8FAFC"/>
                </a:solidFill>
                <a:latin typeface="Calibri"/>
              </a:defRPr>
            </a:pPr>
            <a:r>
              <a:t>Closed-loop autonomous remediation for routine cloud and endpoint events.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19088" y="5349240"/>
            <a:ext cx="4800600" cy="86868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sz="1050" b="1">
                <a:solidFill>
                  <a:srgbClr val="38BDF8"/>
                </a:solidFill>
                <a:latin typeface="Calibri"/>
              </a:defRPr>
            </a:pPr>
            <a:r>
              <a:t>Target Strategic Milestone: AiSOC v8.0 Architecture Deployment</a:t>
            </a:r>
          </a:p>
          <a:p>
            <a:pPr algn="ctr">
              <a:spcBef>
                <a:spcPts val="200"/>
              </a:spcBef>
              <a:defRPr sz="950" b="0">
                <a:solidFill>
                  <a:srgbClr val="F8FAFC"/>
                </a:solidFill>
                <a:latin typeface="Calibri"/>
              </a:defRPr>
            </a:pPr>
            <a:r>
              <a:t>Next Horizons: eBPF Kernel Probes | GPU Graph AI | Threat Sharing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2DD4BF"/>
                </a:solidFill>
                <a:latin typeface="Calibri"/>
              </a:defRPr>
            </a:pPr>
            <a:r>
              <a:t>SECTION 19 | ACADEMIC &amp; INDUSTRIAL STANDARDS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Calibri"/>
              </a:defRPr>
            </a:pPr>
            <a:r>
              <a:t>References: Foundational Literature &amp; Industry Standards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Complete bibliography of 15 peer-reviewed papers and international standards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493776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627632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38BDF8"/>
                </a:solidFill>
                <a:latin typeface="Calibri"/>
              </a:defRPr>
            </a:pPr>
            <a:r>
              <a:t>Academic &amp; Research References (1-8)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1965960"/>
            <a:ext cx="480060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50"/>
              </a:spcAft>
              <a:defRPr sz="1100">
                <a:latin typeface="Calibri"/>
              </a:defRPr>
            </a:pPr>
            <a:r>
              <a:rPr b="1">
                <a:solidFill>
                  <a:srgbClr val="38BDF8"/>
                </a:solidFill>
              </a:rPr>
              <a:t>[1] OCSF Standard: </a:t>
            </a:r>
            <a:r>
              <a:rPr b="0">
                <a:solidFill>
                  <a:srgbClr val="F8FAFC"/>
                </a:solidFill>
              </a:rPr>
              <a:t>Open Cybersecurity Schema Framework v1.1.0, Linux Foundation, 2023.</a:t>
            </a:r>
          </a:p>
          <a:p>
            <a:pPr>
              <a:spcAft>
                <a:spcPts val="650"/>
              </a:spcAft>
              <a:defRPr sz="1100">
                <a:latin typeface="Calibri"/>
              </a:defRPr>
            </a:pPr>
            <a:r>
              <a:rPr b="1">
                <a:solidFill>
                  <a:srgbClr val="38BDF8"/>
                </a:solidFill>
              </a:rPr>
              <a:t>[2] Isolation Forest: </a:t>
            </a:r>
            <a:r>
              <a:rPr b="0">
                <a:solidFill>
                  <a:srgbClr val="F8FAFC"/>
                </a:solidFill>
              </a:rPr>
              <a:t>F. T. Liu, K. M. Ting, Z.-H. Zhou, in IEEE 8th ICDM, pp. 413-422, 2008.</a:t>
            </a:r>
          </a:p>
          <a:p>
            <a:pPr>
              <a:spcAft>
                <a:spcPts val="650"/>
              </a:spcAft>
              <a:defRPr sz="1100">
                <a:latin typeface="Calibri"/>
              </a:defRPr>
            </a:pPr>
            <a:r>
              <a:rPr b="1">
                <a:solidFill>
                  <a:srgbClr val="38BDF8"/>
                </a:solidFill>
              </a:rPr>
              <a:t>[3] LambdaRank Algorithm: </a:t>
            </a:r>
            <a:r>
              <a:rPr b="0">
                <a:solidFill>
                  <a:srgbClr val="F8FAFC"/>
                </a:solidFill>
              </a:rPr>
              <a:t>C. J. Burges, 'From RankNet to LambdaRank to LambdaMART,' Microsoft Research, 2010.</a:t>
            </a:r>
          </a:p>
          <a:p>
            <a:pPr>
              <a:spcAft>
                <a:spcPts val="650"/>
              </a:spcAft>
              <a:defRPr sz="1100">
                <a:latin typeface="Calibri"/>
              </a:defRPr>
            </a:pPr>
            <a:r>
              <a:rPr b="1">
                <a:solidFill>
                  <a:srgbClr val="38BDF8"/>
                </a:solidFill>
              </a:rPr>
              <a:t>[4] Bloom Filter Matching: </a:t>
            </a:r>
            <a:r>
              <a:rPr b="0">
                <a:solidFill>
                  <a:srgbClr val="F8FAFC"/>
                </a:solidFill>
              </a:rPr>
              <a:t>B. H. Bloom, 'Space/Time Trade-offs in Hash Coding,' Comm. ACM, 13(7), 1970.</a:t>
            </a:r>
          </a:p>
          <a:p>
            <a:pPr>
              <a:spcAft>
                <a:spcPts val="650"/>
              </a:spcAft>
              <a:defRPr sz="1100">
                <a:latin typeface="Calibri"/>
              </a:defRPr>
            </a:pPr>
            <a:r>
              <a:rPr b="1">
                <a:solidFill>
                  <a:srgbClr val="38BDF8"/>
                </a:solidFill>
              </a:rPr>
              <a:t>[5] MITRE ATT&amp;CK Matrix: </a:t>
            </a:r>
            <a:r>
              <a:rPr b="0">
                <a:solidFill>
                  <a:srgbClr val="F8FAFC"/>
                </a:solidFill>
              </a:rPr>
              <a:t>B. E. Strom et al., 'MITRE ATT&amp;CK: Design and Philosophy,' MITRE Tech Report, 2020.</a:t>
            </a:r>
          </a:p>
          <a:p>
            <a:pPr>
              <a:spcAft>
                <a:spcPts val="650"/>
              </a:spcAft>
              <a:defRPr sz="1100">
                <a:latin typeface="Calibri"/>
              </a:defRPr>
            </a:pPr>
            <a:r>
              <a:rPr b="1">
                <a:solidFill>
                  <a:srgbClr val="38BDF8"/>
                </a:solidFill>
              </a:rPr>
              <a:t>[6] Neo4j Graph Database: </a:t>
            </a:r>
            <a:r>
              <a:rPr b="0">
                <a:solidFill>
                  <a:srgbClr val="F8FAFC"/>
                </a:solidFill>
              </a:rPr>
              <a:t>Neo4j Graph Database Architecture &amp; Cypher Optimization Manual, Neo4j, 2024.</a:t>
            </a:r>
          </a:p>
          <a:p>
            <a:pPr>
              <a:spcAft>
                <a:spcPts val="650"/>
              </a:spcAft>
              <a:defRPr sz="1100">
                <a:latin typeface="Calibri"/>
              </a:defRPr>
            </a:pPr>
            <a:r>
              <a:rPr b="1">
                <a:solidFill>
                  <a:srgbClr val="38BDF8"/>
                </a:solidFill>
              </a:rPr>
              <a:t>[7] LangGraph Multi-Agent: </a:t>
            </a:r>
            <a:r>
              <a:rPr b="0">
                <a:solidFill>
                  <a:srgbClr val="F8FAFC"/>
                </a:solidFill>
              </a:rPr>
              <a:t>H. Chase et al., 'Multi-Agent Cyclic Graphs for LLMs,' LangChain Research, 2024.</a:t>
            </a:r>
          </a:p>
          <a:p>
            <a:pPr>
              <a:spcAft>
                <a:spcPts val="650"/>
              </a:spcAft>
              <a:defRPr sz="1100">
                <a:latin typeface="Calibri"/>
              </a:defRPr>
            </a:pPr>
            <a:r>
              <a:rPr b="1">
                <a:solidFill>
                  <a:srgbClr val="38BDF8"/>
                </a:solidFill>
              </a:rPr>
              <a:t>[8] NIST Incident Guide: </a:t>
            </a:r>
            <a:r>
              <a:rPr b="0">
                <a:solidFill>
                  <a:srgbClr val="F8FAFC"/>
                </a:solidFill>
              </a:rPr>
              <a:t>NIST Computer Security Incident Handling Guide, Special Publication 800-61, 2012.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" y="5349240"/>
            <a:ext cx="4800600" cy="86868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sz="1050" b="1">
                <a:solidFill>
                  <a:srgbClr val="38BDF8"/>
                </a:solidFill>
                <a:latin typeface="Calibri"/>
              </a:defRPr>
            </a:pPr>
            <a:r>
              <a:t>Foundational Research: Machine Learning &amp; Graph Theory</a:t>
            </a:r>
          </a:p>
          <a:p>
            <a:pPr algn="ctr">
              <a:spcBef>
                <a:spcPts val="200"/>
              </a:spcBef>
              <a:defRPr sz="950" b="0">
                <a:solidFill>
                  <a:srgbClr val="F8FAFC"/>
                </a:solidFill>
                <a:latin typeface="Calibri"/>
              </a:defRPr>
            </a:pPr>
            <a:r>
              <a:t>OCSF Normalization | Isolation Forest Anomaly Detection | LangGraph State Machine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5212080" cy="493776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627632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2DD4BF"/>
                </a:solidFill>
                <a:latin typeface="Calibri"/>
              </a:defRPr>
            </a:pPr>
            <a:r>
              <a:t>Industry Standards &amp; Frameworks (9-15)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1965960"/>
            <a:ext cx="480060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950"/>
              </a:spcAft>
              <a:defRPr sz="110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[9] ISO/IEC 27035 Standard: </a:t>
            </a:r>
            <a:r>
              <a:rPr b="0">
                <a:solidFill>
                  <a:srgbClr val="F8FAFC"/>
                </a:solidFill>
              </a:rPr>
              <a:t>Information Technology — Security Incident Management, ISO/IEC, 2023.</a:t>
            </a:r>
          </a:p>
          <a:p>
            <a:pPr>
              <a:spcAft>
                <a:spcPts val="950"/>
              </a:spcAft>
              <a:defRPr sz="110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[10] CISA Response Playbooks: </a:t>
            </a:r>
            <a:r>
              <a:rPr b="0">
                <a:solidFill>
                  <a:srgbClr val="F8FAFC"/>
                </a:solidFill>
              </a:rPr>
              <a:t>Cybersecurity Incident &amp; Vulnerability Response Playbooks, CISA, 2021.</a:t>
            </a:r>
          </a:p>
          <a:p>
            <a:pPr>
              <a:spcAft>
                <a:spcPts val="950"/>
              </a:spcAft>
              <a:defRPr sz="110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[11] SIEM Best Practices: </a:t>
            </a:r>
            <a:r>
              <a:rPr b="0">
                <a:solidFill>
                  <a:srgbClr val="F8FAFC"/>
                </a:solidFill>
              </a:rPr>
              <a:t>Security Information and Event Management Architecture, Splunk Docs, 2023.</a:t>
            </a:r>
          </a:p>
          <a:p>
            <a:pPr>
              <a:spcAft>
                <a:spcPts val="950"/>
              </a:spcAft>
              <a:defRPr sz="110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[12] Apache Kafka Streaming: </a:t>
            </a:r>
            <a:r>
              <a:rPr b="0">
                <a:solidFill>
                  <a:srgbClr val="F8FAFC"/>
                </a:solidFill>
              </a:rPr>
              <a:t>J. Kreps, N. Narkhede, J. Rao, 'Kafka: Distributed Log Processing,' 2011.</a:t>
            </a:r>
          </a:p>
          <a:p>
            <a:pPr>
              <a:spcAft>
                <a:spcPts val="950"/>
              </a:spcAft>
              <a:defRPr sz="110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[13] Sigma Detection Rules: </a:t>
            </a:r>
            <a:r>
              <a:rPr b="0">
                <a:solidFill>
                  <a:srgbClr val="F8FAFC"/>
                </a:solidFill>
              </a:rPr>
              <a:t>F. Roth, T. Patzke, 'Sigma: Generic Signature Format for SIEM Systems,' 2024.</a:t>
            </a:r>
          </a:p>
          <a:p>
            <a:pPr>
              <a:spcAft>
                <a:spcPts val="950"/>
              </a:spcAft>
              <a:defRPr sz="110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[14] Zeek Network Monitor: </a:t>
            </a:r>
            <a:r>
              <a:rPr b="0">
                <a:solidFill>
                  <a:srgbClr val="F8FAFC"/>
                </a:solidFill>
              </a:rPr>
              <a:t>Zeek Project, 'Zeek Network Security Monitor: Architecture &amp; Scripting,' 2024.</a:t>
            </a:r>
          </a:p>
          <a:p>
            <a:pPr>
              <a:spcAft>
                <a:spcPts val="950"/>
              </a:spcAft>
              <a:defRPr sz="110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[15] UN SDG Framework: </a:t>
            </a:r>
            <a:r>
              <a:rPr b="0">
                <a:solidFill>
                  <a:srgbClr val="F8FAFC"/>
                </a:solidFill>
              </a:rPr>
              <a:t>United Nations, 'Sustainable Development Goals Report 2023,' UN DESA, 2023.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19088" y="5349240"/>
            <a:ext cx="4800600" cy="86868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 w="1524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sz="1050" b="1">
                <a:solidFill>
                  <a:srgbClr val="2DD4BF"/>
                </a:solidFill>
                <a:latin typeface="Calibri"/>
              </a:defRPr>
            </a:pPr>
            <a:r>
              <a:t>Enterprise Compliance &amp; International Standards</a:t>
            </a:r>
          </a:p>
          <a:p>
            <a:pPr algn="ctr">
              <a:spcBef>
                <a:spcPts val="200"/>
              </a:spcBef>
              <a:defRPr sz="950" b="0">
                <a:solidFill>
                  <a:srgbClr val="F8FAFC"/>
                </a:solidFill>
                <a:latin typeface="Calibri"/>
              </a:defRPr>
            </a:pPr>
            <a:r>
              <a:t>ISO/IEC 27035-1 | CISA Response Playbooks | UN Sustainable Development Goals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6984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DD4BF"/>
                </a:solidFill>
                <a:latin typeface="Calibri"/>
              </a:defRPr>
            </a:pPr>
            <a:r>
              <a:t>THANK YOU!</a:t>
            </a:r>
          </a:p>
          <a:p>
            <a:pPr algn="ctr">
              <a:spcBef>
                <a:spcPts val="800"/>
              </a:spcBef>
              <a:defRPr sz="2200">
                <a:solidFill>
                  <a:srgbClr val="F8FAFC"/>
                </a:solidFill>
                <a:latin typeface="Calibri"/>
              </a:defRPr>
            </a:pPr>
            <a:r>
              <a:t>Questions, Feedback &amp; Live Project Demonstration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2834640"/>
            <a:ext cx="9448495" cy="347472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72768" y="2999232"/>
            <a:ext cx="9046159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38BDF8"/>
                </a:solidFill>
                <a:latin typeface="Calibri"/>
              </a:defRPr>
            </a:pPr>
            <a:r>
              <a:t>AiSOC PROJECT REPOSITORY &amp; LIVE DEMONSTRATION ACCESS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3383280"/>
            <a:ext cx="886968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Project Architecture: </a:t>
            </a:r>
            <a:r>
              <a:rPr b="0">
                <a:solidFill>
                  <a:srgbClr val="F8FAFC"/>
                </a:solidFill>
              </a:rPr>
              <a:t>AiSOC: Autonomous AI-Powered Security Operations Center (Open Source MIT License)</a:t>
            </a:r>
          </a:p>
          <a:p>
            <a:pPr>
              <a:spcAft>
                <a:spcPts val="800"/>
              </a:spcAft>
              <a:defRPr sz="12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Live Interactive Web Console: </a:t>
            </a:r>
            <a:r>
              <a:rPr b="0">
                <a:solidFill>
                  <a:srgbClr val="F8FAFC"/>
                </a:solidFill>
              </a:rPr>
              <a:t>http://localhost:3000/dashboard  (Local Next.js + FastAPI Console)</a:t>
            </a:r>
          </a:p>
          <a:p>
            <a:pPr>
              <a:spcAft>
                <a:spcPts val="800"/>
              </a:spcAft>
              <a:defRPr sz="12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Instant Offline Sandbox Demo: </a:t>
            </a:r>
            <a:r>
              <a:rPr b="0">
                <a:solidFill>
                  <a:srgbClr val="F8FAFC"/>
                </a:solidFill>
              </a:rPr>
              <a:t>pip install aisoc-sandbox &amp;&amp; aisoc-sandbox demo  (&lt;30s local execution)</a:t>
            </a:r>
          </a:p>
          <a:p>
            <a:pPr>
              <a:spcAft>
                <a:spcPts val="800"/>
              </a:spcAft>
              <a:defRPr sz="12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Complete Project Documentation: </a:t>
            </a:r>
            <a:r>
              <a:rPr b="0">
                <a:solidFill>
                  <a:srgbClr val="F8FAFC"/>
                </a:solidFill>
              </a:rPr>
              <a:t>Local Architecture Docs, Graph Schema &amp; Connector Guides (docs/)</a:t>
            </a:r>
          </a:p>
          <a:p>
            <a:pPr>
              <a:spcAft>
                <a:spcPts val="800"/>
              </a:spcAft>
              <a:defRPr sz="12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Team Members &amp; Register Nos: </a:t>
            </a:r>
            <a:r>
              <a:rPr b="0">
                <a:solidFill>
                  <a:srgbClr val="F8FAFC"/>
                </a:solidFill>
              </a:rPr>
              <a:t>Yashvinthan M (231061101162) | Tharun Kumar D (231061101150) | Sanjeev V (231061101140) | Srinithi J S (231061101149)</a:t>
            </a:r>
          </a:p>
          <a:p>
            <a:pPr>
              <a:spcAft>
                <a:spcPts val="800"/>
              </a:spcAft>
              <a:defRPr sz="12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Department &amp; College: </a:t>
            </a:r>
            <a:r>
              <a:rPr b="0">
                <a:solidFill>
                  <a:srgbClr val="F8FAFC"/>
                </a:solidFill>
              </a:rPr>
              <a:t>Department of Computer Science and Engineering, Dr. M.G.R. Educational and Research Institute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45920" y="5486400"/>
            <a:ext cx="8869680" cy="59436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 w="1524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sz="1050" b="1">
                <a:solidFill>
                  <a:srgbClr val="2DD4BF"/>
                </a:solidFill>
                <a:latin typeface="Calibri"/>
              </a:defRPr>
            </a:pPr>
            <a:r>
              <a:t>Live Demo Ready: Running locally on Proxmox VE Cluster &amp; Cisco 3850 Testbed</a:t>
            </a:r>
          </a:p>
          <a:p>
            <a:pPr algn="ctr">
              <a:spcBef>
                <a:spcPts val="200"/>
              </a:spcBef>
              <a:defRPr sz="950" b="0">
                <a:solidFill>
                  <a:srgbClr val="F8FAFC"/>
                </a:solidFill>
                <a:latin typeface="Calibri"/>
              </a:defRPr>
            </a:pPr>
            <a:r>
              <a:t>Instant Cold-Start: pip install aisoc-sandbox &amp;&amp; aisoc-sandbox demo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